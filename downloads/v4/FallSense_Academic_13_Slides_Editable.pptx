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sản phẩm học tập FallSense. Tên học phần và giảng viên được giữ theo slide gốc.</a:t>
            </a:r>
          </a:p>
          <a:p/>
          <a:p>
            <a:r>
              <a:t>Nguồn: Bài gốc, slide 1</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Fleming &amp; Brayne nghiên cứu người trên 90 tuổi: 110 người tham gia, 66 người đã ngã. Không khái quát tỷ lệ cho cộng đồng. Giữ số liệu WHO 2021; thông tin cập nhật WHO trong ghi chú gốc chưa được xác minh trực tiếp.</a:t>
            </a:r>
          </a:p>
          <a:p/>
          <a:p>
            <a:r>
              <a:t>Nguồn: WHO (2021), Falls · Fleming &amp; Brayne (2008), BMJ 337:a2227</a:t>
            </a:r>
          </a:p>
          <a:p/>
          <a:p>
            <a:r>
              <a:t>Bản đồ nguồn: slide 1–8 = bản gốc 1–8 đã sửa; slide 9 mới; slide 10 = gốc 9; slide 11 mới; slide 12 = gốc 10; slide 13 mới.</a:t>
            </a:r>
          </a:p>
          <a:p>
            <a:r>
              <a:t>https://www.who.int/news-room/fact-sheets/detail/falls</a:t>
            </a:r>
          </a:p>
          <a:p>
            <a:r>
              <a:t>https://doi.org/10.1136/bmj.a2227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dự đoán té ngã trước sự kiện; không chẩn đoán và không tự gọi cấp cứu. Chưa kiểm thử email; mạng và backend là điều kiện cần.</a:t>
            </a:r>
          </a:p>
          <a:p/>
          <a:p>
            <a:r>
              <a:t>Nguồn: Bài gốc 3 · Tài liệu góp ý 4</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khái niệm: nhận tư thế, tính đặc trưng và xét diễn biến theo thời gian. MediaPipe không tự trả kết luận ngã.</a:t>
            </a:r>
          </a:p>
          <a:p/>
          <a:p>
            <a:r>
              <a:t>Nguồn: Bài gốc 4 · Tài liệu góp ý 5</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được cung cấp là DEMO SIM. ID không phải danh tính sinh trắc. Phần trăm trên giao diện là cách hiển thị điểm, không phải xác suất hoặc độ chính xác.</a:t>
            </a:r>
          </a:p>
          <a:p/>
          <a:p>
            <a:r>
              <a:t>Nguồn: assets/live-monitor.jpg · Ảnh tham chiếu, không phải thử nghiệm trực tiếp</a:t>
            </a:r>
          </a:p>
          <a:p/>
          <a:p>
            <a:r>
              <a:t>Bản đồ nguồn: slide 1–8 = bản gốc 1–8 đã sửa; slide 9 mới; slide 10 = gốc 9; slide 11 mới; slide 12 = gốc 10; slide 13 mới.</a:t>
            </a:r>
          </a:p>
          <a:p/>
          <a:p>
            <a:r>
              <a:t>Xung đột cần đối chiếu: ảnh Live Monitor ghi vạch 0,60, tài liệu góp ý nêu 0,68. Không xem ảnh chụp là bằng chứng ngưỡng trong mã đang triển khai. Chưa có app source để giải quyết.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liệu góp ý 7 nói modal mở ngay từ FALLEN; engine đồng thời tích lũy bất động để chuyển ALERT. Không phải hai chu kỳ 15 giây nối tiếp. Chưa có source app để kiểm tra, chưa thử gửi email.</a:t>
            </a:r>
          </a:p>
          <a:p/>
          <a:p>
            <a:r>
              <a:t>Nguồn: Tài liệu góp ý 7, ghi chú — chưa xác minh mã nguồn hiện tại</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nguyên bản chỉ minh họa các khớp chính; không phải toàn bộ 33 điểm. Tọa độ chuẩn hóa không phải đơn vị cm.</a:t>
            </a:r>
          </a:p>
          <a:p/>
          <a:p>
            <a:r>
              <a:t>Nguồn: Google AI Edge · Pose Landmarker · Bài gốc 7</a:t>
            </a:r>
          </a:p>
          <a:p/>
          <a:p>
            <a:r>
              <a:t>Bản đồ nguồn: slide 1–8 = bản gốc 1–8 đã sửa; slide 9 mới; slide 10 = gốc 9; slide 11 mới; slide 12 = gốc 10; slide 13 mới.</a:t>
            </a:r>
          </a:p>
          <a:p>
            <a:r>
              <a:t>https://ai.google.dev/edge/mediapipe/solutions/vision/pose_landmarker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góp ý, canEvaluateFall = reliableTorso &amp;&amp; (hasLowerJoint || (torsoCount === 4 &amp;&amp; completeness &gt;= .40)). Không khẳng định luôn bắt buộc thấy chân. Công thức chưa kiểm tra trên source app.</a:t>
            </a:r>
          </a:p>
          <a:p/>
          <a:p>
            <a:r>
              <a:t>Nguồn: Tài liệu góp ý 9, ghi chú · Nguồn ứng dụng chưa được cung cấp</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ngưỡng dẫn theo góp ý 10, chưa xác minh mã hiện tại. Nhãn ngang khác điểm horizontalScore = clamp((r-.9)/.8,0,1). Người chủ động nằm xuống cũng có thể có khung ngang.</a:t>
            </a:r>
          </a:p>
          <a:p/>
          <a:p>
            <a:r>
              <a:t>Nguồn: Tài liệu góp ý 10 · Ngưỡng tham khảo, chưa xác minh source</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Bảy trọng số khớp bài gốc và góp ý nhưng chưa đối chiếu source hiện tại. Ground contact chỉ đếm điểm gần đáy ảnh; không chứng minh chạm sàn. Nếu có classifier, điểm cuối có thể khác ruleScore; chưa xác minh chế độ.</a:t>
            </a:r>
          </a:p>
          <a:p/>
          <a:p>
            <a:r>
              <a:t>Nguồn: Bài gốc 9 · Tài liệu góp ý 11</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thành phần [.75,.50,.60,0,.50,.60,.50]; tích trọng số [.165,.100,.108,0,.060,.048,.040], tổng .521. Đây là số giả định của tài liệu góp ý, không phải dữ liệu đo.</a:t>
            </a:r>
          </a:p>
          <a:p/>
          <a:p>
            <a:r>
              <a:t>Nguồn: Tài liệu góp ý 12 · Ví dụ giả định, không phải kết quả kiểm thử</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góp ý: STANDING→PRE_FALL khi hạ nhanh và nghiêng thân hoặc score≥.45 tích lũy đủ 3 bước, với cổng người/thân hợp lệ. PRE_FALL→FALLEN: ngang đủ 4 bước hoặc score≥.68 và góc&gt;60° hoặc giảm chiều cao nhanh kèm ≥2 điểm gần đáy. FALLEN→ALERT sau bất động tích lũy 15s. Modal đã mở từ FALLEN. Bộ đếm bước khác giây; cần xác minh code hiện tại.</a:t>
            </a:r>
          </a:p>
          <a:p/>
          <a:p>
            <a:r>
              <a:t>Nguồn: Tài liệu góp ý 13–14 · Điều kiện rút gọn, chưa xác minh source</a:t>
            </a:r>
          </a:p>
          <a:p/>
          <a:p>
            <a:r>
              <a:t>Bản đồ nguồn: slide 1–8 = bản gốc 1–8 đã sửa; slide 9 mới; slide 10 = gốc 9; slide 11 mới; slide 12 = gốc 10; slide 13 mới.</a:t>
            </a:r>
          </a:p>
          <a:p/>
          <a:p>
            <a:r>
              <a:t>Xung đột cần đối chiếu: ảnh Live Monitor ghi vạch 0,60, tài liệu góp ý nêu 0,68. Không xem ảnh chụp là bằng chứng ngưỡng trong mã đang triển khai. Chưa có app source để giải quyết.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yêu cầu người cao tuổi ngã thật. Các kịch bản là kế hoạch kiểm thử, chưa thực hiện. Ghi log phát hiện đúng, bỏ sót, báo sai và trạng thái email; không suy ra độ chính xác lâm sàng từ test phần mềm.</a:t>
            </a:r>
          </a:p>
          <a:p/>
          <a:p>
            <a:r>
              <a:t>Nguồn: Tài liệu góp ý 16 · Không có số đo thực nghiệm trong bộ đính kèm</a:t>
            </a:r>
          </a:p>
          <a:p/>
          <a:p>
            <a:r>
              <a:t>Bản đồ nguồn: slide 1–8 = bản gốc 1–8 đã sửa; slide 9 mới; slide 10 = gốc 9; slide 11 mới; slide 12 = gốc 10; slide 13 mới.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01 / 13</a:t>
            </a:r>
          </a:p>
        </p:txBody>
      </p:sp>
      <p:sp>
        <p:nvSpPr>
          <p:cNvPr id="6" name="TextBox 5"/>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Bài gốc, slide 1</a:t>
            </a:r>
          </a:p>
        </p:txBody>
      </p:sp>
      <p:sp>
        <p:nvSpPr>
          <p:cNvPr id="7" name="Rounded Rectangle 6"/>
          <p:cNvSpPr/>
          <p:nvPr/>
        </p:nvSpPr>
        <p:spPr>
          <a:xfrm>
            <a:off x="548640" y="1033271"/>
            <a:ext cx="4480560" cy="347472"/>
          </a:xfrm>
          <a:prstGeom prst="roundRect">
            <a:avLst>
              <a:gd name="adj" fmla="val 12000"/>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67512" y="1060704"/>
            <a:ext cx="4242816" cy="292608"/>
          </a:xfrm>
          <a:prstGeom prst="rect">
            <a:avLst/>
          </a:prstGeom>
          <a:noFill/>
        </p:spPr>
        <p:txBody>
          <a:bodyPr wrap="square" lIns="0" rIns="0" tIns="25400" bIns="0">
            <a:spAutoFit/>
          </a:bodyPr>
          <a:lstStyle/>
          <a:p>
            <a:pPr>
              <a:spcAft>
                <a:spcPts val="600"/>
              </a:spcAft>
              <a:defRPr sz="1100" b="1">
                <a:solidFill>
                  <a:srgbClr val="C44C99"/>
                </a:solidFill>
                <a:latin typeface="Arial"/>
              </a:defRPr>
            </a:pPr>
            <a:r>
              <a:t>GIỚI THIỆU NGÀNH CÔNG NGHỆ THÔNG TIN</a:t>
            </a:r>
          </a:p>
        </p:txBody>
      </p:sp>
      <p:sp>
        <p:nvSpPr>
          <p:cNvPr id="9" name="TextBox 8"/>
          <p:cNvSpPr txBox="1"/>
          <p:nvPr/>
        </p:nvSpPr>
        <p:spPr>
          <a:xfrm>
            <a:off x="548640" y="1691640"/>
            <a:ext cx="7315200" cy="987552"/>
          </a:xfrm>
          <a:prstGeom prst="rect">
            <a:avLst/>
          </a:prstGeom>
          <a:noFill/>
        </p:spPr>
        <p:txBody>
          <a:bodyPr wrap="square" lIns="0" rIns="0" tIns="25400" bIns="0">
            <a:spAutoFit/>
          </a:bodyPr>
          <a:lstStyle/>
          <a:p>
            <a:pPr>
              <a:spcAft>
                <a:spcPts val="600"/>
              </a:spcAft>
              <a:defRPr sz="6200" b="1">
                <a:solidFill>
                  <a:srgbClr val="20212A"/>
                </a:solidFill>
                <a:latin typeface="Arial"/>
              </a:defRPr>
            </a:pPr>
            <a:r>
              <a:t>FallSense</a:t>
            </a:r>
          </a:p>
        </p:txBody>
      </p:sp>
      <p:sp>
        <p:nvSpPr>
          <p:cNvPr id="10" name="TextBox 9"/>
          <p:cNvSpPr txBox="1"/>
          <p:nvPr/>
        </p:nvSpPr>
        <p:spPr>
          <a:xfrm>
            <a:off x="603504" y="2761488"/>
            <a:ext cx="7772400" cy="1051560"/>
          </a:xfrm>
          <a:prstGeom prst="rect">
            <a:avLst/>
          </a:prstGeom>
          <a:noFill/>
        </p:spPr>
        <p:txBody>
          <a:bodyPr wrap="square" lIns="0" rIns="0" tIns="25400" bIns="0">
            <a:spAutoFit/>
          </a:bodyPr>
          <a:lstStyle/>
          <a:p>
            <a:pPr>
              <a:spcAft>
                <a:spcPts val="600"/>
              </a:spcAft>
              <a:defRPr sz="2900" b="1">
                <a:solidFill>
                  <a:srgbClr val="C44C99"/>
                </a:solidFill>
                <a:latin typeface="Arial"/>
              </a:defRPr>
            </a:pPr>
            <a:r>
              <a:t>Hệ thống hỗ trợ giám sát và</a:t>
            </a:r>
          </a:p>
          <a:p>
            <a:pPr>
              <a:spcAft>
                <a:spcPts val="600"/>
              </a:spcAft>
              <a:defRPr sz="2900" b="1">
                <a:solidFill>
                  <a:srgbClr val="C44C99"/>
                </a:solidFill>
                <a:latin typeface="Arial"/>
              </a:defRPr>
            </a:pPr>
            <a:r>
              <a:t>cảnh báo té ngã bằng camera</a:t>
            </a:r>
          </a:p>
        </p:txBody>
      </p:sp>
      <p:sp>
        <p:nvSpPr>
          <p:cNvPr id="11" name="TextBox 10"/>
          <p:cNvSpPr txBox="1"/>
          <p:nvPr/>
        </p:nvSpPr>
        <p:spPr>
          <a:xfrm>
            <a:off x="603504" y="4270248"/>
            <a:ext cx="8321040" cy="1280160"/>
          </a:xfrm>
          <a:prstGeom prst="rect">
            <a:avLst/>
          </a:prstGeom>
          <a:noFill/>
        </p:spPr>
        <p:txBody>
          <a:bodyPr wrap="square" lIns="0" rIns="0" tIns="25400" bIns="0">
            <a:spAutoFit/>
          </a:bodyPr>
          <a:lstStyle/>
          <a:p>
            <a:pPr>
              <a:spcAft>
                <a:spcPts val="600"/>
              </a:spcAft>
              <a:defRPr sz="1800" b="0">
                <a:solidFill>
                  <a:srgbClr val="655D6C"/>
                </a:solidFill>
                <a:latin typeface="Arial"/>
              </a:defRPr>
            </a:pPr>
            <a:r>
              <a:t>Nhóm 06 – IE005.R11.CNVN</a:t>
            </a:r>
          </a:p>
          <a:p>
            <a:pPr>
              <a:spcAft>
                <a:spcPts val="600"/>
              </a:spcAft>
              <a:defRPr sz="1800" b="0">
                <a:solidFill>
                  <a:srgbClr val="655D6C"/>
                </a:solidFill>
                <a:latin typeface="Arial"/>
              </a:defRPr>
            </a:pPr>
            <a:r>
              <a:t>Giảng viên: TS. Nguyễn Tấn Hoàng Phước</a:t>
            </a:r>
          </a:p>
          <a:p>
            <a:pPr>
              <a:spcAft>
                <a:spcPts val="600"/>
              </a:spcAft>
              <a:defRPr sz="1800" b="0">
                <a:solidFill>
                  <a:srgbClr val="655D6C"/>
                </a:solidFill>
                <a:latin typeface="Arial"/>
              </a:defRPr>
            </a:pPr>
            <a:r>
              <a:t>Trường Đại học Công nghệ Thông tin – ĐHQG-HCM</a:t>
            </a:r>
          </a:p>
        </p:txBody>
      </p:sp>
      <p:sp>
        <p:nvSpPr>
          <p:cNvPr id="12" name="Freeform 11"/>
          <p:cNvSpPr/>
          <p:nvPr/>
        </p:nvSpPr>
        <p:spPr>
          <a:xfrm>
            <a:off x="8705088" y="1965960"/>
            <a:ext cx="2423160" cy="2617013"/>
          </a:xfrm>
          <a:custGeom>
            <a:avLst/>
            <a:gdLst/>
            <a:ahLst/>
            <a:cxnLst/>
            <a:rect l="l" t="t" r="r" b="b"/>
            <a:pathLst>
              <a:path w="1000" h="1080">
                <a:moveTo>
                  <a:pt x="0" y="120"/>
                </a:moveTo>
                <a:lnTo>
                  <a:pt x="200" y="75"/>
                </a:lnTo>
                <a:lnTo>
                  <a:pt x="500" y="0"/>
                </a:lnTo>
                <a:lnTo>
                  <a:pt x="800" y="75"/>
                </a:lnTo>
                <a:lnTo>
                  <a:pt x="1000" y="120"/>
                </a:lnTo>
                <a:lnTo>
                  <a:pt x="970" y="550"/>
                </a:lnTo>
                <a:lnTo>
                  <a:pt x="800" y="850"/>
                </a:lnTo>
                <a:lnTo>
                  <a:pt x="500" y="1080"/>
                </a:lnTo>
                <a:lnTo>
                  <a:pt x="200" y="850"/>
                </a:lnTo>
                <a:lnTo>
                  <a:pt x="30" y="550"/>
                </a:lnTo>
                <a:close/>
              </a:path>
            </a:pathLst>
          </a:custGeom>
          <a:gradFill rotWithShape="1">
            <a:gsLst>
              <a:gs pos="0">
                <a:srgbClr val="F9E6F2"/>
              </a:gs>
              <a:gs pos="100000">
                <a:srgbClr val="DDA0C6"/>
              </a:gs>
            </a:gsLst>
            <a:lin scaled="0"/>
          </a:gra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95688" y="2935224"/>
            <a:ext cx="169621" cy="169621"/>
          </a:xfrm>
          <a:prstGeom prst="ellipse">
            <a:avLst/>
          </a:prstGeom>
          <a:solidFill>
            <a:srgbClr val="202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36882" y="2947339"/>
            <a:ext cx="43616" cy="436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322993" y="3298698"/>
            <a:ext cx="315010" cy="121158"/>
          </a:xfrm>
          <a:prstGeom prst="ellipse">
            <a:avLst/>
          </a:prstGeom>
          <a:solidFill>
            <a:srgbClr val="EAA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68026" y="2935224"/>
            <a:ext cx="169621" cy="169621"/>
          </a:xfrm>
          <a:prstGeom prst="ellipse">
            <a:avLst/>
          </a:prstGeom>
          <a:solidFill>
            <a:srgbClr val="202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09219" y="2947339"/>
            <a:ext cx="43616" cy="436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195331" y="3298698"/>
            <a:ext cx="315010" cy="121158"/>
          </a:xfrm>
          <a:prstGeom prst="ellipse">
            <a:avLst/>
          </a:prstGeom>
          <a:solidFill>
            <a:srgbClr val="EAA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59698" y="3177539"/>
            <a:ext cx="339242" cy="751179"/>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982858" y="3177539"/>
            <a:ext cx="339242" cy="751179"/>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9771278" y="3419856"/>
            <a:ext cx="145389" cy="96926"/>
          </a:xfrm>
          <a:prstGeom prst="line">
            <a:avLst/>
          </a:prstGeom>
          <a:ln w="27940">
            <a:solidFill>
              <a:srgbClr val="96617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916667" y="3419856"/>
            <a:ext cx="145390" cy="96926"/>
          </a:xfrm>
          <a:prstGeom prst="line">
            <a:avLst/>
          </a:prstGeom>
          <a:ln w="27940">
            <a:solidFill>
              <a:srgbClr val="96617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22815" y="3880256"/>
            <a:ext cx="169621" cy="14539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892436" y="3686403"/>
            <a:ext cx="315011" cy="339243"/>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383572" y="4437583"/>
            <a:ext cx="315010" cy="315010"/>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07447" y="4437583"/>
            <a:ext cx="315010" cy="315010"/>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02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Khi một cú ngã không được nhận ra</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WHO (2021), Falls · Fleming &amp; Brayne (2008), BMJ 337:a2227</a:t>
            </a:r>
          </a:p>
        </p:txBody>
      </p:sp>
      <p:sp>
        <p:nvSpPr>
          <p:cNvPr id="8" name="Rounded Rectangle 7"/>
          <p:cNvSpPr/>
          <p:nvPr/>
        </p:nvSpPr>
        <p:spPr>
          <a:xfrm>
            <a:off x="548640" y="2194560"/>
            <a:ext cx="3538728"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2432304"/>
            <a:ext cx="3108960" cy="731520"/>
          </a:xfrm>
          <a:prstGeom prst="rect">
            <a:avLst/>
          </a:prstGeom>
          <a:noFill/>
        </p:spPr>
        <p:txBody>
          <a:bodyPr wrap="square" lIns="0" rIns="0" tIns="25400" bIns="0">
            <a:spAutoFit/>
          </a:bodyPr>
          <a:lstStyle/>
          <a:p>
            <a:pPr>
              <a:spcAft>
                <a:spcPts val="600"/>
              </a:spcAft>
              <a:defRPr sz="4400" b="1">
                <a:solidFill>
                  <a:srgbClr val="C44C99"/>
                </a:solidFill>
                <a:latin typeface="Arial"/>
              </a:defRPr>
            </a:pPr>
            <a:r>
              <a:t>684.000</a:t>
            </a:r>
          </a:p>
        </p:txBody>
      </p:sp>
      <p:sp>
        <p:nvSpPr>
          <p:cNvPr id="10" name="TextBox 9"/>
          <p:cNvSpPr txBox="1"/>
          <p:nvPr/>
        </p:nvSpPr>
        <p:spPr>
          <a:xfrm>
            <a:off x="777240" y="3364992"/>
            <a:ext cx="3081528" cy="1005840"/>
          </a:xfrm>
          <a:prstGeom prst="rect">
            <a:avLst/>
          </a:prstGeom>
          <a:noFill/>
        </p:spPr>
        <p:txBody>
          <a:bodyPr wrap="square" lIns="0" rIns="0" tIns="25400" bIns="0">
            <a:spAutoFit/>
          </a:bodyPr>
          <a:lstStyle/>
          <a:p>
            <a:pPr>
              <a:spcAft>
                <a:spcPts val="600"/>
              </a:spcAft>
              <a:defRPr sz="1900" b="0">
                <a:solidFill>
                  <a:srgbClr val="655D6C"/>
                </a:solidFill>
                <a:latin typeface="Arial"/>
              </a:defRPr>
            </a:pPr>
            <a:r>
              <a:t>ca tử vong do té ngã/năm</a:t>
            </a:r>
          </a:p>
          <a:p>
            <a:pPr>
              <a:spcAft>
                <a:spcPts val="600"/>
              </a:spcAft>
              <a:defRPr sz="1900" b="0">
                <a:solidFill>
                  <a:srgbClr val="655D6C"/>
                </a:solidFill>
                <a:latin typeface="Arial"/>
              </a:defRPr>
            </a:pPr>
            <a:r>
              <a:t>Ước tính toàn cầu · WHO 2021</a:t>
            </a:r>
          </a:p>
        </p:txBody>
      </p:sp>
      <p:sp>
        <p:nvSpPr>
          <p:cNvPr id="11" name="Rounded Rectangle 10"/>
          <p:cNvSpPr/>
          <p:nvPr/>
        </p:nvSpPr>
        <p:spPr>
          <a:xfrm>
            <a:off x="4315968" y="2194560"/>
            <a:ext cx="3538728"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44568" y="2432304"/>
            <a:ext cx="3108960" cy="731520"/>
          </a:xfrm>
          <a:prstGeom prst="rect">
            <a:avLst/>
          </a:prstGeom>
          <a:noFill/>
        </p:spPr>
        <p:txBody>
          <a:bodyPr wrap="square" lIns="0" rIns="0" tIns="25400" bIns="0">
            <a:spAutoFit/>
          </a:bodyPr>
          <a:lstStyle/>
          <a:p>
            <a:pPr>
              <a:spcAft>
                <a:spcPts val="600"/>
              </a:spcAft>
              <a:defRPr sz="4400" b="1">
                <a:solidFill>
                  <a:srgbClr val="C44C99"/>
                </a:solidFill>
                <a:latin typeface="Arial"/>
              </a:defRPr>
            </a:pPr>
            <a:r>
              <a:t>53/66</a:t>
            </a:r>
          </a:p>
        </p:txBody>
      </p:sp>
      <p:sp>
        <p:nvSpPr>
          <p:cNvPr id="13" name="TextBox 12"/>
          <p:cNvSpPr txBox="1"/>
          <p:nvPr/>
        </p:nvSpPr>
        <p:spPr>
          <a:xfrm>
            <a:off x="4544568" y="3364992"/>
            <a:ext cx="3081528" cy="1005840"/>
          </a:xfrm>
          <a:prstGeom prst="rect">
            <a:avLst/>
          </a:prstGeom>
          <a:noFill/>
        </p:spPr>
        <p:txBody>
          <a:bodyPr wrap="square" lIns="0" rIns="0" tIns="25400" bIns="0">
            <a:spAutoFit/>
          </a:bodyPr>
          <a:lstStyle/>
          <a:p>
            <a:pPr>
              <a:spcAft>
                <a:spcPts val="600"/>
              </a:spcAft>
              <a:defRPr sz="1900" b="0">
                <a:solidFill>
                  <a:srgbClr val="655D6C"/>
                </a:solidFill>
                <a:latin typeface="Arial"/>
              </a:defRPr>
            </a:pPr>
            <a:r>
              <a:t>không tự đứng dậy</a:t>
            </a:r>
          </a:p>
          <a:p>
            <a:pPr>
              <a:spcAft>
                <a:spcPts val="600"/>
              </a:spcAft>
              <a:defRPr sz="1900" b="0">
                <a:solidFill>
                  <a:srgbClr val="655D6C"/>
                </a:solidFill>
                <a:latin typeface="Arial"/>
              </a:defRPr>
            </a:pPr>
            <a:r>
              <a:t>Sau ít nhất một lần ngã</a:t>
            </a:r>
          </a:p>
        </p:txBody>
      </p:sp>
      <p:sp>
        <p:nvSpPr>
          <p:cNvPr id="14" name="Rounded Rectangle 13"/>
          <p:cNvSpPr/>
          <p:nvPr/>
        </p:nvSpPr>
        <p:spPr>
          <a:xfrm>
            <a:off x="8083296" y="2194560"/>
            <a:ext cx="3538728"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311896" y="2432304"/>
            <a:ext cx="3108960" cy="731520"/>
          </a:xfrm>
          <a:prstGeom prst="rect">
            <a:avLst/>
          </a:prstGeom>
          <a:noFill/>
        </p:spPr>
        <p:txBody>
          <a:bodyPr wrap="square" lIns="0" rIns="0" tIns="25400" bIns="0">
            <a:spAutoFit/>
          </a:bodyPr>
          <a:lstStyle/>
          <a:p>
            <a:pPr>
              <a:spcAft>
                <a:spcPts val="600"/>
              </a:spcAft>
              <a:defRPr sz="4400" b="1">
                <a:solidFill>
                  <a:srgbClr val="C44C99"/>
                </a:solidFill>
                <a:latin typeface="Arial"/>
              </a:defRPr>
            </a:pPr>
            <a:r>
              <a:t>20/66</a:t>
            </a:r>
          </a:p>
        </p:txBody>
      </p:sp>
      <p:sp>
        <p:nvSpPr>
          <p:cNvPr id="16" name="TextBox 15"/>
          <p:cNvSpPr txBox="1"/>
          <p:nvPr/>
        </p:nvSpPr>
        <p:spPr>
          <a:xfrm>
            <a:off x="8311896" y="3364992"/>
            <a:ext cx="3081528" cy="1005840"/>
          </a:xfrm>
          <a:prstGeom prst="rect">
            <a:avLst/>
          </a:prstGeom>
          <a:noFill/>
        </p:spPr>
        <p:txBody>
          <a:bodyPr wrap="square" lIns="0" rIns="0" tIns="25400" bIns="0">
            <a:spAutoFit/>
          </a:bodyPr>
          <a:lstStyle/>
          <a:p>
            <a:pPr>
              <a:spcAft>
                <a:spcPts val="600"/>
              </a:spcAft>
              <a:defRPr sz="1900" b="0">
                <a:solidFill>
                  <a:srgbClr val="655D6C"/>
                </a:solidFill>
                <a:latin typeface="Arial"/>
              </a:defRPr>
            </a:pPr>
            <a:r>
              <a:t>từng nằm sàn ≥ 1 giờ</a:t>
            </a:r>
          </a:p>
          <a:p>
            <a:pPr>
              <a:spcAft>
                <a:spcPts val="600"/>
              </a:spcAft>
              <a:defRPr sz="1900" b="0">
                <a:solidFill>
                  <a:srgbClr val="655D6C"/>
                </a:solidFill>
                <a:latin typeface="Arial"/>
              </a:defRPr>
            </a:pPr>
            <a:r>
              <a:t>Trong nhóm đã ngã</a:t>
            </a:r>
          </a:p>
        </p:txBody>
      </p:sp>
      <p:sp>
        <p:nvSpPr>
          <p:cNvPr id="17" name="TextBox 16"/>
          <p:cNvSpPr txBox="1"/>
          <p:nvPr/>
        </p:nvSpPr>
        <p:spPr>
          <a:xfrm>
            <a:off x="640080" y="5074920"/>
            <a:ext cx="10835640" cy="621792"/>
          </a:xfrm>
          <a:prstGeom prst="rect">
            <a:avLst/>
          </a:prstGeom>
          <a:noFill/>
        </p:spPr>
        <p:txBody>
          <a:bodyPr wrap="square" lIns="0" rIns="0" tIns="25400" bIns="0">
            <a:spAutoFit/>
          </a:bodyPr>
          <a:lstStyle/>
          <a:p>
            <a:pPr>
              <a:spcAft>
                <a:spcPts val="600"/>
              </a:spcAft>
              <a:defRPr sz="1800" b="1">
                <a:solidFill>
                  <a:srgbClr val="20212A"/>
                </a:solidFill>
                <a:latin typeface="Arial"/>
              </a:defRPr>
            </a:pPr>
            <a:r>
              <a:t>53/66 và 20/66 thuộc nghiên cứu người trên 90 tuổi đã ngã; không phải tỷ lệ dân số chung.</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03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Hỗ trợ quan sát. Phản hồi có trách nhiệm.</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Bài gốc 3 · Tài liệu góp ý 4</a:t>
            </a:r>
          </a:p>
        </p:txBody>
      </p:sp>
      <p:sp>
        <p:nvSpPr>
          <p:cNvPr id="8" name="Rounded Rectangle 7"/>
          <p:cNvSpPr/>
          <p:nvPr/>
        </p:nvSpPr>
        <p:spPr>
          <a:xfrm>
            <a:off x="548640"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478024"/>
            <a:ext cx="3124200" cy="868680"/>
          </a:xfrm>
          <a:prstGeom prst="rect">
            <a:avLst/>
          </a:prstGeom>
          <a:noFill/>
        </p:spPr>
        <p:txBody>
          <a:bodyPr wrap="square" lIns="0" rIns="0" tIns="25400" bIns="0">
            <a:spAutoFit/>
          </a:bodyPr>
          <a:lstStyle/>
          <a:p>
            <a:pPr>
              <a:spcAft>
                <a:spcPts val="600"/>
              </a:spcAft>
              <a:defRPr sz="2300" b="1">
                <a:solidFill>
                  <a:srgbClr val="C44C99"/>
                </a:solidFill>
                <a:latin typeface="Arial"/>
              </a:defRPr>
            </a:pPr>
            <a:r>
              <a:t>Camera trong trình duyệt</a:t>
            </a:r>
          </a:p>
        </p:txBody>
      </p:sp>
      <p:sp>
        <p:nvSpPr>
          <p:cNvPr id="10" name="TextBox 9"/>
          <p:cNvSpPr txBox="1"/>
          <p:nvPr/>
        </p:nvSpPr>
        <p:spPr>
          <a:xfrm>
            <a:off x="758952"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Theo dõi dấu hiệu té ngã</a:t>
            </a:r>
          </a:p>
        </p:txBody>
      </p:sp>
      <p:sp>
        <p:nvSpPr>
          <p:cNvPr id="11" name="Rounded Rectangle 10"/>
          <p:cNvSpPr/>
          <p:nvPr/>
        </p:nvSpPr>
        <p:spPr>
          <a:xfrm>
            <a:off x="4322064"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32376" y="2478024"/>
            <a:ext cx="3124200" cy="868680"/>
          </a:xfrm>
          <a:prstGeom prst="rect">
            <a:avLst/>
          </a:prstGeom>
          <a:noFill/>
        </p:spPr>
        <p:txBody>
          <a:bodyPr wrap="square" lIns="0" rIns="0" tIns="25400" bIns="0">
            <a:spAutoFit/>
          </a:bodyPr>
          <a:lstStyle/>
          <a:p>
            <a:pPr>
              <a:spcAft>
                <a:spcPts val="600"/>
              </a:spcAft>
              <a:defRPr sz="2300" b="1">
                <a:solidFill>
                  <a:srgbClr val="20212A"/>
                </a:solidFill>
                <a:latin typeface="Arial"/>
              </a:defRPr>
            </a:pPr>
            <a:r>
              <a:t>Phản hồi trên giao diện</a:t>
            </a:r>
          </a:p>
        </p:txBody>
      </p:sp>
      <p:sp>
        <p:nvSpPr>
          <p:cNvPr id="13" name="TextBox 12"/>
          <p:cNvSpPr txBox="1"/>
          <p:nvPr/>
        </p:nvSpPr>
        <p:spPr>
          <a:xfrm>
            <a:off x="4532376"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Email cần dịch vụ được cấu hình</a:t>
            </a:r>
          </a:p>
        </p:txBody>
      </p:sp>
      <p:sp>
        <p:nvSpPr>
          <p:cNvPr id="14" name="Rounded Rectangle 13"/>
          <p:cNvSpPr/>
          <p:nvPr/>
        </p:nvSpPr>
        <p:spPr>
          <a:xfrm>
            <a:off x="8095488"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305800" y="2478024"/>
            <a:ext cx="3124200" cy="868680"/>
          </a:xfrm>
          <a:prstGeom prst="rect">
            <a:avLst/>
          </a:prstGeom>
          <a:noFill/>
        </p:spPr>
        <p:txBody>
          <a:bodyPr wrap="square" lIns="0" rIns="0" tIns="25400" bIns="0">
            <a:spAutoFit/>
          </a:bodyPr>
          <a:lstStyle/>
          <a:p>
            <a:pPr>
              <a:spcAft>
                <a:spcPts val="600"/>
              </a:spcAft>
              <a:defRPr sz="2300" b="1">
                <a:solidFill>
                  <a:srgbClr val="20212A"/>
                </a:solidFill>
                <a:latin typeface="Arial"/>
              </a:defRPr>
            </a:pPr>
            <a:r>
              <a:t>Nguyên mẫu học tập</a:t>
            </a:r>
          </a:p>
        </p:txBody>
      </p:sp>
      <p:sp>
        <p:nvSpPr>
          <p:cNvPr id="16" name="TextBox 15"/>
          <p:cNvSpPr txBox="1"/>
          <p:nvPr/>
        </p:nvSpPr>
        <p:spPr>
          <a:xfrm>
            <a:off x="8305800"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Không phải thiết bị y tế</a:t>
            </a:r>
          </a:p>
        </p:txBody>
      </p:sp>
      <p:sp>
        <p:nvSpPr>
          <p:cNvPr id="17" name="Rounded Rectangle 16"/>
          <p:cNvSpPr/>
          <p:nvPr/>
        </p:nvSpPr>
        <p:spPr>
          <a:xfrm>
            <a:off x="594360" y="5138928"/>
            <a:ext cx="2926080" cy="347472"/>
          </a:xfrm>
          <a:prstGeom prst="roundRect">
            <a:avLst>
              <a:gd name="adj" fmla="val 12000"/>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13232" y="5166360"/>
            <a:ext cx="2688336" cy="292608"/>
          </a:xfrm>
          <a:prstGeom prst="rect">
            <a:avLst/>
          </a:prstGeom>
          <a:noFill/>
        </p:spPr>
        <p:txBody>
          <a:bodyPr wrap="square" lIns="0" rIns="0" tIns="25400" bIns="0">
            <a:spAutoFit/>
          </a:bodyPr>
          <a:lstStyle/>
          <a:p>
            <a:pPr>
              <a:spcAft>
                <a:spcPts val="600"/>
              </a:spcAft>
              <a:defRPr sz="1100" b="1">
                <a:solidFill>
                  <a:srgbClr val="C44C99"/>
                </a:solidFill>
                <a:latin typeface="Arial"/>
              </a:defRPr>
            </a:pPr>
            <a:r>
              <a:t>NGUYÊN MẪU HỌC TẬP</a:t>
            </a:r>
          </a:p>
        </p:txBody>
      </p:sp>
      <p:sp>
        <p:nvSpPr>
          <p:cNvPr id="19" name="TextBox 18"/>
          <p:cNvSpPr txBox="1"/>
          <p:nvPr/>
        </p:nvSpPr>
        <p:spPr>
          <a:xfrm>
            <a:off x="3749039" y="5166360"/>
            <a:ext cx="7315200" cy="457200"/>
          </a:xfrm>
          <a:prstGeom prst="rect">
            <a:avLst/>
          </a:prstGeom>
          <a:noFill/>
        </p:spPr>
        <p:txBody>
          <a:bodyPr wrap="square" lIns="0" rIns="0" tIns="25400" bIns="0">
            <a:spAutoFit/>
          </a:bodyPr>
          <a:lstStyle/>
          <a:p>
            <a:pPr>
              <a:spcAft>
                <a:spcPts val="600"/>
              </a:spcAft>
              <a:defRPr sz="1900" b="1">
                <a:solidFill>
                  <a:srgbClr val="20212A"/>
                </a:solidFill>
                <a:latin typeface="Arial"/>
              </a:defRPr>
            </a:pPr>
            <a:r>
              <a:t>Không chẩn đoán y khoa · Không tự gọi cấp cứu</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04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Từ hình ảnh đến phản hồi</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Bài gốc 4 · Tài liệu góp ý 5</a:t>
            </a:r>
          </a:p>
        </p:txBody>
      </p:sp>
      <p:sp>
        <p:nvSpPr>
          <p:cNvPr id="8" name="Rounded Rectangle 7"/>
          <p:cNvSpPr/>
          <p:nvPr/>
        </p:nvSpPr>
        <p:spPr>
          <a:xfrm>
            <a:off x="548640" y="2468880"/>
            <a:ext cx="1993392" cy="18288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49808" y="2660904"/>
            <a:ext cx="329184" cy="329184"/>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3" y="2688336"/>
            <a:ext cx="182880" cy="228600"/>
          </a:xfrm>
          <a:prstGeom prst="rect">
            <a:avLst/>
          </a:prstGeom>
          <a:noFill/>
        </p:spPr>
        <p:txBody>
          <a:bodyPr wrap="square" lIns="0" rIns="0" tIns="25400" bIns="0">
            <a:spAutoFit/>
          </a:bodyPr>
          <a:lstStyle/>
          <a:p>
            <a:pPr>
              <a:spcAft>
                <a:spcPts val="600"/>
              </a:spcAft>
              <a:defRPr sz="1200" b="1">
                <a:solidFill>
                  <a:srgbClr val="C44C99"/>
                </a:solidFill>
                <a:latin typeface="Arial"/>
              </a:defRPr>
            </a:pPr>
            <a:r>
              <a:t>1</a:t>
            </a:r>
          </a:p>
        </p:txBody>
      </p:sp>
      <p:sp>
        <p:nvSpPr>
          <p:cNvPr id="11" name="TextBox 10"/>
          <p:cNvSpPr txBox="1"/>
          <p:nvPr/>
        </p:nvSpPr>
        <p:spPr>
          <a:xfrm>
            <a:off x="731520" y="3154680"/>
            <a:ext cx="1645920" cy="411480"/>
          </a:xfrm>
          <a:prstGeom prst="rect">
            <a:avLst/>
          </a:prstGeom>
          <a:noFill/>
        </p:spPr>
        <p:txBody>
          <a:bodyPr wrap="square" lIns="0" rIns="0" tIns="25400" bIns="0">
            <a:spAutoFit/>
          </a:bodyPr>
          <a:lstStyle/>
          <a:p>
            <a:pPr>
              <a:spcAft>
                <a:spcPts val="600"/>
              </a:spcAft>
              <a:defRPr sz="2000" b="1">
                <a:solidFill>
                  <a:srgbClr val="20212A"/>
                </a:solidFill>
                <a:latin typeface="Arial"/>
              </a:defRPr>
            </a:pPr>
            <a:r>
              <a:t>Camera</a:t>
            </a:r>
          </a:p>
        </p:txBody>
      </p:sp>
      <p:sp>
        <p:nvSpPr>
          <p:cNvPr id="12" name="TextBox 11"/>
          <p:cNvSpPr txBox="1"/>
          <p:nvPr/>
        </p:nvSpPr>
        <p:spPr>
          <a:xfrm>
            <a:off x="731520" y="3675887"/>
            <a:ext cx="1645920" cy="457200"/>
          </a:xfrm>
          <a:prstGeom prst="rect">
            <a:avLst/>
          </a:prstGeom>
          <a:noFill/>
        </p:spPr>
        <p:txBody>
          <a:bodyPr wrap="square" lIns="0" rIns="0" tIns="25400" bIns="0">
            <a:spAutoFit/>
          </a:bodyPr>
          <a:lstStyle/>
          <a:p>
            <a:pPr>
              <a:spcAft>
                <a:spcPts val="600"/>
              </a:spcAft>
              <a:defRPr sz="1500" b="0">
                <a:solidFill>
                  <a:srgbClr val="655D6C"/>
                </a:solidFill>
                <a:latin typeface="Arial"/>
              </a:defRPr>
            </a:pPr>
            <a:r>
              <a:t>Hình ảnh</a:t>
            </a:r>
          </a:p>
        </p:txBody>
      </p:sp>
      <p:sp>
        <p:nvSpPr>
          <p:cNvPr id="13" name="TextBox 12"/>
          <p:cNvSpPr txBox="1"/>
          <p:nvPr/>
        </p:nvSpPr>
        <p:spPr>
          <a:xfrm>
            <a:off x="2560320" y="3063240"/>
            <a:ext cx="274320" cy="548640"/>
          </a:xfrm>
          <a:prstGeom prst="rect">
            <a:avLst/>
          </a:prstGeom>
          <a:noFill/>
        </p:spPr>
        <p:txBody>
          <a:bodyPr wrap="square" lIns="0" rIns="0" tIns="25400" bIns="0">
            <a:spAutoFit/>
          </a:bodyPr>
          <a:lstStyle/>
          <a:p>
            <a:pPr>
              <a:spcAft>
                <a:spcPts val="600"/>
              </a:spcAft>
              <a:defRPr sz="2500" b="1">
                <a:solidFill>
                  <a:srgbClr val="C44C99"/>
                </a:solidFill>
                <a:latin typeface="Arial"/>
              </a:defRPr>
            </a:pPr>
            <a:r>
              <a:t>→</a:t>
            </a:r>
          </a:p>
        </p:txBody>
      </p:sp>
      <p:sp>
        <p:nvSpPr>
          <p:cNvPr id="14" name="Rounded Rectangle 13"/>
          <p:cNvSpPr/>
          <p:nvPr/>
        </p:nvSpPr>
        <p:spPr>
          <a:xfrm>
            <a:off x="2816352" y="2468880"/>
            <a:ext cx="1993392" cy="18288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3017520" y="2660904"/>
            <a:ext cx="329184" cy="329184"/>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99816" y="2688336"/>
            <a:ext cx="182880" cy="228600"/>
          </a:xfrm>
          <a:prstGeom prst="rect">
            <a:avLst/>
          </a:prstGeom>
          <a:noFill/>
        </p:spPr>
        <p:txBody>
          <a:bodyPr wrap="square" lIns="0" rIns="0" tIns="25400" bIns="0">
            <a:spAutoFit/>
          </a:bodyPr>
          <a:lstStyle/>
          <a:p>
            <a:pPr>
              <a:spcAft>
                <a:spcPts val="600"/>
              </a:spcAft>
              <a:defRPr sz="1200" b="1">
                <a:solidFill>
                  <a:srgbClr val="C44C99"/>
                </a:solidFill>
                <a:latin typeface="Arial"/>
              </a:defRPr>
            </a:pPr>
            <a:r>
              <a:t>2</a:t>
            </a:r>
          </a:p>
        </p:txBody>
      </p:sp>
      <p:sp>
        <p:nvSpPr>
          <p:cNvPr id="17" name="TextBox 16"/>
          <p:cNvSpPr txBox="1"/>
          <p:nvPr/>
        </p:nvSpPr>
        <p:spPr>
          <a:xfrm>
            <a:off x="2999232" y="3154680"/>
            <a:ext cx="1645920" cy="411480"/>
          </a:xfrm>
          <a:prstGeom prst="rect">
            <a:avLst/>
          </a:prstGeom>
          <a:noFill/>
        </p:spPr>
        <p:txBody>
          <a:bodyPr wrap="square" lIns="0" rIns="0" tIns="25400" bIns="0">
            <a:spAutoFit/>
          </a:bodyPr>
          <a:lstStyle/>
          <a:p>
            <a:pPr>
              <a:spcAft>
                <a:spcPts val="600"/>
              </a:spcAft>
              <a:defRPr sz="2000" b="1">
                <a:solidFill>
                  <a:srgbClr val="20212A"/>
                </a:solidFill>
                <a:latin typeface="Arial"/>
              </a:defRPr>
            </a:pPr>
            <a:r>
              <a:t>MediaPipe</a:t>
            </a:r>
          </a:p>
        </p:txBody>
      </p:sp>
      <p:sp>
        <p:nvSpPr>
          <p:cNvPr id="18" name="TextBox 17"/>
          <p:cNvSpPr txBox="1"/>
          <p:nvPr/>
        </p:nvSpPr>
        <p:spPr>
          <a:xfrm>
            <a:off x="2999232" y="3675887"/>
            <a:ext cx="1645920" cy="457200"/>
          </a:xfrm>
          <a:prstGeom prst="rect">
            <a:avLst/>
          </a:prstGeom>
          <a:noFill/>
        </p:spPr>
        <p:txBody>
          <a:bodyPr wrap="square" lIns="0" rIns="0" tIns="25400" bIns="0">
            <a:spAutoFit/>
          </a:bodyPr>
          <a:lstStyle/>
          <a:p>
            <a:pPr>
              <a:spcAft>
                <a:spcPts val="600"/>
              </a:spcAft>
              <a:defRPr sz="1500" b="0">
                <a:solidFill>
                  <a:srgbClr val="655D6C"/>
                </a:solidFill>
                <a:latin typeface="Arial"/>
              </a:defRPr>
            </a:pPr>
            <a:r>
              <a:t>Điểm mốc tư thế</a:t>
            </a:r>
          </a:p>
        </p:txBody>
      </p:sp>
      <p:sp>
        <p:nvSpPr>
          <p:cNvPr id="19" name="TextBox 18"/>
          <p:cNvSpPr txBox="1"/>
          <p:nvPr/>
        </p:nvSpPr>
        <p:spPr>
          <a:xfrm>
            <a:off x="4828032" y="3063240"/>
            <a:ext cx="274320" cy="548640"/>
          </a:xfrm>
          <a:prstGeom prst="rect">
            <a:avLst/>
          </a:prstGeom>
          <a:noFill/>
        </p:spPr>
        <p:txBody>
          <a:bodyPr wrap="square" lIns="0" rIns="0" tIns="25400" bIns="0">
            <a:spAutoFit/>
          </a:bodyPr>
          <a:lstStyle/>
          <a:p>
            <a:pPr>
              <a:spcAft>
                <a:spcPts val="600"/>
              </a:spcAft>
              <a:defRPr sz="2500" b="1">
                <a:solidFill>
                  <a:srgbClr val="C44C99"/>
                </a:solidFill>
                <a:latin typeface="Arial"/>
              </a:defRPr>
            </a:pPr>
            <a:r>
              <a:t>→</a:t>
            </a:r>
          </a:p>
        </p:txBody>
      </p:sp>
      <p:sp>
        <p:nvSpPr>
          <p:cNvPr id="20" name="Rounded Rectangle 19"/>
          <p:cNvSpPr/>
          <p:nvPr/>
        </p:nvSpPr>
        <p:spPr>
          <a:xfrm>
            <a:off x="5084064" y="2468880"/>
            <a:ext cx="1993392" cy="18288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5285231" y="2660904"/>
            <a:ext cx="329184" cy="329184"/>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67527" y="2688336"/>
            <a:ext cx="182880" cy="228600"/>
          </a:xfrm>
          <a:prstGeom prst="rect">
            <a:avLst/>
          </a:prstGeom>
          <a:noFill/>
        </p:spPr>
        <p:txBody>
          <a:bodyPr wrap="square" lIns="0" rIns="0" tIns="25400" bIns="0">
            <a:spAutoFit/>
          </a:bodyPr>
          <a:lstStyle/>
          <a:p>
            <a:pPr>
              <a:spcAft>
                <a:spcPts val="600"/>
              </a:spcAft>
              <a:defRPr sz="1200" b="1">
                <a:solidFill>
                  <a:srgbClr val="C44C99"/>
                </a:solidFill>
                <a:latin typeface="Arial"/>
              </a:defRPr>
            </a:pPr>
            <a:r>
              <a:t>3</a:t>
            </a:r>
          </a:p>
        </p:txBody>
      </p:sp>
      <p:sp>
        <p:nvSpPr>
          <p:cNvPr id="23" name="TextBox 22"/>
          <p:cNvSpPr txBox="1"/>
          <p:nvPr/>
        </p:nvSpPr>
        <p:spPr>
          <a:xfrm>
            <a:off x="5266944" y="3154680"/>
            <a:ext cx="1645920" cy="411480"/>
          </a:xfrm>
          <a:prstGeom prst="rect">
            <a:avLst/>
          </a:prstGeom>
          <a:noFill/>
        </p:spPr>
        <p:txBody>
          <a:bodyPr wrap="square" lIns="0" rIns="0" tIns="25400" bIns="0">
            <a:spAutoFit/>
          </a:bodyPr>
          <a:lstStyle/>
          <a:p>
            <a:pPr>
              <a:spcAft>
                <a:spcPts val="600"/>
              </a:spcAft>
              <a:defRPr sz="2000" b="1">
                <a:solidFill>
                  <a:srgbClr val="20212A"/>
                </a:solidFill>
                <a:latin typeface="Arial"/>
              </a:defRPr>
            </a:pPr>
            <a:r>
              <a:t>Fall Score</a:t>
            </a:r>
          </a:p>
        </p:txBody>
      </p:sp>
      <p:sp>
        <p:nvSpPr>
          <p:cNvPr id="24" name="TextBox 23"/>
          <p:cNvSpPr txBox="1"/>
          <p:nvPr/>
        </p:nvSpPr>
        <p:spPr>
          <a:xfrm>
            <a:off x="5266944" y="3675887"/>
            <a:ext cx="1645920" cy="457200"/>
          </a:xfrm>
          <a:prstGeom prst="rect">
            <a:avLst/>
          </a:prstGeom>
          <a:noFill/>
        </p:spPr>
        <p:txBody>
          <a:bodyPr wrap="square" lIns="0" rIns="0" tIns="25400" bIns="0">
            <a:spAutoFit/>
          </a:bodyPr>
          <a:lstStyle/>
          <a:p>
            <a:pPr>
              <a:spcAft>
                <a:spcPts val="600"/>
              </a:spcAft>
              <a:defRPr sz="1500" b="0">
                <a:solidFill>
                  <a:srgbClr val="655D6C"/>
                </a:solidFill>
                <a:latin typeface="Arial"/>
              </a:defRPr>
            </a:pPr>
            <a:r>
              <a:t>Đặc trưng chuyển động</a:t>
            </a:r>
          </a:p>
        </p:txBody>
      </p:sp>
      <p:sp>
        <p:nvSpPr>
          <p:cNvPr id="25" name="TextBox 24"/>
          <p:cNvSpPr txBox="1"/>
          <p:nvPr/>
        </p:nvSpPr>
        <p:spPr>
          <a:xfrm>
            <a:off x="7095744" y="3063240"/>
            <a:ext cx="274320" cy="548640"/>
          </a:xfrm>
          <a:prstGeom prst="rect">
            <a:avLst/>
          </a:prstGeom>
          <a:noFill/>
        </p:spPr>
        <p:txBody>
          <a:bodyPr wrap="square" lIns="0" rIns="0" tIns="25400" bIns="0">
            <a:spAutoFit/>
          </a:bodyPr>
          <a:lstStyle/>
          <a:p>
            <a:pPr>
              <a:spcAft>
                <a:spcPts val="600"/>
              </a:spcAft>
              <a:defRPr sz="2500" b="1">
                <a:solidFill>
                  <a:srgbClr val="C44C99"/>
                </a:solidFill>
                <a:latin typeface="Arial"/>
              </a:defRPr>
            </a:pPr>
            <a:r>
              <a:t>→</a:t>
            </a:r>
          </a:p>
        </p:txBody>
      </p:sp>
      <p:sp>
        <p:nvSpPr>
          <p:cNvPr id="26" name="Rounded Rectangle 25"/>
          <p:cNvSpPr/>
          <p:nvPr/>
        </p:nvSpPr>
        <p:spPr>
          <a:xfrm>
            <a:off x="7351775" y="2468880"/>
            <a:ext cx="1993392" cy="18288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7552944" y="2660904"/>
            <a:ext cx="329184" cy="329184"/>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5240" y="2688336"/>
            <a:ext cx="182880" cy="228600"/>
          </a:xfrm>
          <a:prstGeom prst="rect">
            <a:avLst/>
          </a:prstGeom>
          <a:noFill/>
        </p:spPr>
        <p:txBody>
          <a:bodyPr wrap="square" lIns="0" rIns="0" tIns="25400" bIns="0">
            <a:spAutoFit/>
          </a:bodyPr>
          <a:lstStyle/>
          <a:p>
            <a:pPr>
              <a:spcAft>
                <a:spcPts val="600"/>
              </a:spcAft>
              <a:defRPr sz="1200" b="1">
                <a:solidFill>
                  <a:srgbClr val="C44C99"/>
                </a:solidFill>
                <a:latin typeface="Arial"/>
              </a:defRPr>
            </a:pPr>
            <a:r>
              <a:t>4</a:t>
            </a:r>
          </a:p>
        </p:txBody>
      </p:sp>
      <p:sp>
        <p:nvSpPr>
          <p:cNvPr id="29" name="TextBox 28"/>
          <p:cNvSpPr txBox="1"/>
          <p:nvPr/>
        </p:nvSpPr>
        <p:spPr>
          <a:xfrm>
            <a:off x="7534655" y="3154680"/>
            <a:ext cx="1645920" cy="411480"/>
          </a:xfrm>
          <a:prstGeom prst="rect">
            <a:avLst/>
          </a:prstGeom>
          <a:noFill/>
        </p:spPr>
        <p:txBody>
          <a:bodyPr wrap="square" lIns="0" rIns="0" tIns="25400" bIns="0">
            <a:spAutoFit/>
          </a:bodyPr>
          <a:lstStyle/>
          <a:p>
            <a:pPr>
              <a:spcAft>
                <a:spcPts val="600"/>
              </a:spcAft>
              <a:defRPr sz="2000" b="1">
                <a:solidFill>
                  <a:srgbClr val="20212A"/>
                </a:solidFill>
                <a:latin typeface="Arial"/>
              </a:defRPr>
            </a:pPr>
            <a:r>
              <a:t>Trạng thái</a:t>
            </a:r>
          </a:p>
        </p:txBody>
      </p:sp>
      <p:sp>
        <p:nvSpPr>
          <p:cNvPr id="30" name="TextBox 29"/>
          <p:cNvSpPr txBox="1"/>
          <p:nvPr/>
        </p:nvSpPr>
        <p:spPr>
          <a:xfrm>
            <a:off x="7534655" y="3675887"/>
            <a:ext cx="1645920" cy="457200"/>
          </a:xfrm>
          <a:prstGeom prst="rect">
            <a:avLst/>
          </a:prstGeom>
          <a:noFill/>
        </p:spPr>
        <p:txBody>
          <a:bodyPr wrap="square" lIns="0" rIns="0" tIns="25400" bIns="0">
            <a:spAutoFit/>
          </a:bodyPr>
          <a:lstStyle/>
          <a:p>
            <a:pPr>
              <a:spcAft>
                <a:spcPts val="600"/>
              </a:spcAft>
              <a:defRPr sz="1500" b="0">
                <a:solidFill>
                  <a:srgbClr val="655D6C"/>
                </a:solidFill>
                <a:latin typeface="Arial"/>
              </a:defRPr>
            </a:pPr>
            <a:r>
              <a:t>Diễn biến thời gian</a:t>
            </a:r>
          </a:p>
        </p:txBody>
      </p:sp>
      <p:sp>
        <p:nvSpPr>
          <p:cNvPr id="31" name="TextBox 30"/>
          <p:cNvSpPr txBox="1"/>
          <p:nvPr/>
        </p:nvSpPr>
        <p:spPr>
          <a:xfrm>
            <a:off x="9363455" y="3063240"/>
            <a:ext cx="274320" cy="548640"/>
          </a:xfrm>
          <a:prstGeom prst="rect">
            <a:avLst/>
          </a:prstGeom>
          <a:noFill/>
        </p:spPr>
        <p:txBody>
          <a:bodyPr wrap="square" lIns="0" rIns="0" tIns="25400" bIns="0">
            <a:spAutoFit/>
          </a:bodyPr>
          <a:lstStyle/>
          <a:p>
            <a:pPr>
              <a:spcAft>
                <a:spcPts val="600"/>
              </a:spcAft>
              <a:defRPr sz="2500" b="1">
                <a:solidFill>
                  <a:srgbClr val="C44C99"/>
                </a:solidFill>
                <a:latin typeface="Arial"/>
              </a:defRPr>
            </a:pPr>
            <a:r>
              <a:t>→</a:t>
            </a:r>
          </a:p>
        </p:txBody>
      </p:sp>
      <p:sp>
        <p:nvSpPr>
          <p:cNvPr id="32" name="Rounded Rectangle 31"/>
          <p:cNvSpPr/>
          <p:nvPr/>
        </p:nvSpPr>
        <p:spPr>
          <a:xfrm>
            <a:off x="9619488" y="2468880"/>
            <a:ext cx="1993392" cy="18288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val 32"/>
          <p:cNvSpPr/>
          <p:nvPr/>
        </p:nvSpPr>
        <p:spPr>
          <a:xfrm>
            <a:off x="9820656" y="2660904"/>
            <a:ext cx="329184" cy="329184"/>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02952" y="2688336"/>
            <a:ext cx="182880" cy="228600"/>
          </a:xfrm>
          <a:prstGeom prst="rect">
            <a:avLst/>
          </a:prstGeom>
          <a:noFill/>
        </p:spPr>
        <p:txBody>
          <a:bodyPr wrap="square" lIns="0" rIns="0" tIns="25400" bIns="0">
            <a:spAutoFit/>
          </a:bodyPr>
          <a:lstStyle/>
          <a:p>
            <a:pPr>
              <a:spcAft>
                <a:spcPts val="600"/>
              </a:spcAft>
              <a:defRPr sz="1200" b="1">
                <a:solidFill>
                  <a:srgbClr val="C44C99"/>
                </a:solidFill>
                <a:latin typeface="Arial"/>
              </a:defRPr>
            </a:pPr>
            <a:r>
              <a:t>5</a:t>
            </a:r>
          </a:p>
        </p:txBody>
      </p:sp>
      <p:sp>
        <p:nvSpPr>
          <p:cNvPr id="35" name="TextBox 34"/>
          <p:cNvSpPr txBox="1"/>
          <p:nvPr/>
        </p:nvSpPr>
        <p:spPr>
          <a:xfrm>
            <a:off x="9802367" y="3154680"/>
            <a:ext cx="1645920" cy="411480"/>
          </a:xfrm>
          <a:prstGeom prst="rect">
            <a:avLst/>
          </a:prstGeom>
          <a:noFill/>
        </p:spPr>
        <p:txBody>
          <a:bodyPr wrap="square" lIns="0" rIns="0" tIns="25400" bIns="0">
            <a:spAutoFit/>
          </a:bodyPr>
          <a:lstStyle/>
          <a:p>
            <a:pPr>
              <a:spcAft>
                <a:spcPts val="600"/>
              </a:spcAft>
              <a:defRPr sz="2000" b="1">
                <a:solidFill>
                  <a:srgbClr val="20212A"/>
                </a:solidFill>
                <a:latin typeface="Arial"/>
              </a:defRPr>
            </a:pPr>
            <a:r>
              <a:t>Phản hồi</a:t>
            </a:r>
          </a:p>
        </p:txBody>
      </p:sp>
      <p:sp>
        <p:nvSpPr>
          <p:cNvPr id="36" name="TextBox 35"/>
          <p:cNvSpPr txBox="1"/>
          <p:nvPr/>
        </p:nvSpPr>
        <p:spPr>
          <a:xfrm>
            <a:off x="9802367" y="3675887"/>
            <a:ext cx="1645920" cy="457200"/>
          </a:xfrm>
          <a:prstGeom prst="rect">
            <a:avLst/>
          </a:prstGeom>
          <a:noFill/>
        </p:spPr>
        <p:txBody>
          <a:bodyPr wrap="square" lIns="0" rIns="0" tIns="25400" bIns="0">
            <a:spAutoFit/>
          </a:bodyPr>
          <a:lstStyle/>
          <a:p>
            <a:pPr>
              <a:spcAft>
                <a:spcPts val="600"/>
              </a:spcAft>
              <a:defRPr sz="1500" b="0">
                <a:solidFill>
                  <a:srgbClr val="655D6C"/>
                </a:solidFill>
                <a:latin typeface="Arial"/>
              </a:defRPr>
            </a:pPr>
            <a:r>
              <a:t>Giao diện / cảnh báo</a:t>
            </a:r>
          </a:p>
        </p:txBody>
      </p:sp>
      <p:sp>
        <p:nvSpPr>
          <p:cNvPr id="37" name="TextBox 36"/>
          <p:cNvSpPr txBox="1"/>
          <p:nvPr/>
        </p:nvSpPr>
        <p:spPr>
          <a:xfrm>
            <a:off x="594360" y="5074920"/>
            <a:ext cx="10972800" cy="640080"/>
          </a:xfrm>
          <a:prstGeom prst="rect">
            <a:avLst/>
          </a:prstGeom>
          <a:noFill/>
        </p:spPr>
        <p:txBody>
          <a:bodyPr wrap="square" lIns="0" rIns="0" tIns="25400" bIns="0">
            <a:spAutoFit/>
          </a:bodyPr>
          <a:lstStyle/>
          <a:p>
            <a:pPr>
              <a:spcAft>
                <a:spcPts val="600"/>
              </a:spcAft>
              <a:defRPr sz="2000" b="1">
                <a:solidFill>
                  <a:srgbClr val="20212A"/>
                </a:solidFill>
                <a:latin typeface="Arial"/>
              </a:defRPr>
            </a:pPr>
            <a:r>
              <a:t>Một khung hình chưa đủ — cần chất lượng đầu vào và diễn biến theo thời gian.</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05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Nhìn thấy điều hệ thống đang thấy</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assets/live-monitor.jpg · Ảnh tham chiếu, không phải thử nghiệm trực tiếp</a:t>
            </a:r>
          </a:p>
        </p:txBody>
      </p:sp>
      <p:pic>
        <p:nvPicPr>
          <p:cNvPr id="8" name="Picture 7" descr="live-monitor.jpg"/>
          <p:cNvPicPr>
            <a:picLocks noChangeAspect="1"/>
          </p:cNvPicPr>
          <p:nvPr/>
        </p:nvPicPr>
        <p:blipFill>
          <a:blip r:embed="rId3"/>
          <a:stretch>
            <a:fillRect/>
          </a:stretch>
        </p:blipFill>
        <p:spPr>
          <a:xfrm>
            <a:off x="548640" y="1828800"/>
            <a:ext cx="7909560" cy="4022400"/>
          </a:xfrm>
          <a:prstGeom prst="rect">
            <a:avLst/>
          </a:prstGeom>
        </p:spPr>
      </p:pic>
      <p:sp>
        <p:nvSpPr>
          <p:cNvPr id="9" name="Oval 8"/>
          <p:cNvSpPr/>
          <p:nvPr/>
        </p:nvSpPr>
        <p:spPr>
          <a:xfrm>
            <a:off x="8732520" y="1920240"/>
            <a:ext cx="347472" cy="347472"/>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33104" y="1947672"/>
            <a:ext cx="182880" cy="274320"/>
          </a:xfrm>
          <a:prstGeom prst="rect">
            <a:avLst/>
          </a:prstGeom>
          <a:noFill/>
        </p:spPr>
        <p:txBody>
          <a:bodyPr wrap="square" lIns="0" rIns="0" tIns="25400" bIns="0">
            <a:spAutoFit/>
          </a:bodyPr>
          <a:lstStyle/>
          <a:p>
            <a:pPr>
              <a:spcAft>
                <a:spcPts val="600"/>
              </a:spcAft>
              <a:defRPr sz="1300" b="1">
                <a:solidFill>
                  <a:srgbClr val="FFFFFF"/>
                </a:solidFill>
                <a:latin typeface="Arial"/>
              </a:defRPr>
            </a:pPr>
            <a:r>
              <a:t>1</a:t>
            </a:r>
          </a:p>
        </p:txBody>
      </p:sp>
      <p:sp>
        <p:nvSpPr>
          <p:cNvPr id="11" name="TextBox 10"/>
          <p:cNvSpPr txBox="1"/>
          <p:nvPr/>
        </p:nvSpPr>
        <p:spPr>
          <a:xfrm>
            <a:off x="9171432" y="1920240"/>
            <a:ext cx="2423160" cy="5943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Camera / mô phỏng</a:t>
            </a:r>
          </a:p>
        </p:txBody>
      </p:sp>
      <p:sp>
        <p:nvSpPr>
          <p:cNvPr id="12" name="Oval 11"/>
          <p:cNvSpPr/>
          <p:nvPr/>
        </p:nvSpPr>
        <p:spPr>
          <a:xfrm>
            <a:off x="8732520" y="2624328"/>
            <a:ext cx="347472" cy="347472"/>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33104" y="2651760"/>
            <a:ext cx="182880" cy="274320"/>
          </a:xfrm>
          <a:prstGeom prst="rect">
            <a:avLst/>
          </a:prstGeom>
          <a:noFill/>
        </p:spPr>
        <p:txBody>
          <a:bodyPr wrap="square" lIns="0" rIns="0" tIns="25400" bIns="0">
            <a:spAutoFit/>
          </a:bodyPr>
          <a:lstStyle/>
          <a:p>
            <a:pPr>
              <a:spcAft>
                <a:spcPts val="600"/>
              </a:spcAft>
              <a:defRPr sz="1300" b="1">
                <a:solidFill>
                  <a:srgbClr val="FFFFFF"/>
                </a:solidFill>
                <a:latin typeface="Arial"/>
              </a:defRPr>
            </a:pPr>
            <a:r>
              <a:t>2</a:t>
            </a:r>
          </a:p>
        </p:txBody>
      </p:sp>
      <p:sp>
        <p:nvSpPr>
          <p:cNvPr id="14" name="TextBox 13"/>
          <p:cNvSpPr txBox="1"/>
          <p:nvPr/>
        </p:nvSpPr>
        <p:spPr>
          <a:xfrm>
            <a:off x="9171432" y="2624328"/>
            <a:ext cx="2423160" cy="5943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Khung xương</a:t>
            </a:r>
          </a:p>
        </p:txBody>
      </p:sp>
      <p:sp>
        <p:nvSpPr>
          <p:cNvPr id="15" name="Oval 14"/>
          <p:cNvSpPr/>
          <p:nvPr/>
        </p:nvSpPr>
        <p:spPr>
          <a:xfrm>
            <a:off x="8732520" y="3328416"/>
            <a:ext cx="347472" cy="347472"/>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33104" y="3355848"/>
            <a:ext cx="182880" cy="274320"/>
          </a:xfrm>
          <a:prstGeom prst="rect">
            <a:avLst/>
          </a:prstGeom>
          <a:noFill/>
        </p:spPr>
        <p:txBody>
          <a:bodyPr wrap="square" lIns="0" rIns="0" tIns="25400" bIns="0">
            <a:spAutoFit/>
          </a:bodyPr>
          <a:lstStyle/>
          <a:p>
            <a:pPr>
              <a:spcAft>
                <a:spcPts val="600"/>
              </a:spcAft>
              <a:defRPr sz="1300" b="1">
                <a:solidFill>
                  <a:srgbClr val="FFFFFF"/>
                </a:solidFill>
                <a:latin typeface="Arial"/>
              </a:defRPr>
            </a:pPr>
            <a:r>
              <a:t>3</a:t>
            </a:r>
          </a:p>
        </p:txBody>
      </p:sp>
      <p:sp>
        <p:nvSpPr>
          <p:cNvPr id="17" name="TextBox 16"/>
          <p:cNvSpPr txBox="1"/>
          <p:nvPr/>
        </p:nvSpPr>
        <p:spPr>
          <a:xfrm>
            <a:off x="9171432" y="3328416"/>
            <a:ext cx="2423160" cy="5943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ID theo dõi tạm thời</a:t>
            </a:r>
          </a:p>
        </p:txBody>
      </p:sp>
      <p:sp>
        <p:nvSpPr>
          <p:cNvPr id="18" name="Oval 17"/>
          <p:cNvSpPr/>
          <p:nvPr/>
        </p:nvSpPr>
        <p:spPr>
          <a:xfrm>
            <a:off x="8732520" y="4032504"/>
            <a:ext cx="347472" cy="347472"/>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33104" y="4059936"/>
            <a:ext cx="182880" cy="274320"/>
          </a:xfrm>
          <a:prstGeom prst="rect">
            <a:avLst/>
          </a:prstGeom>
          <a:noFill/>
        </p:spPr>
        <p:txBody>
          <a:bodyPr wrap="square" lIns="0" rIns="0" tIns="25400" bIns="0">
            <a:spAutoFit/>
          </a:bodyPr>
          <a:lstStyle/>
          <a:p>
            <a:pPr>
              <a:spcAft>
                <a:spcPts val="600"/>
              </a:spcAft>
              <a:defRPr sz="1300" b="1">
                <a:solidFill>
                  <a:srgbClr val="FFFFFF"/>
                </a:solidFill>
                <a:latin typeface="Arial"/>
              </a:defRPr>
            </a:pPr>
            <a:r>
              <a:t>4</a:t>
            </a:r>
          </a:p>
        </p:txBody>
      </p:sp>
      <p:sp>
        <p:nvSpPr>
          <p:cNvPr id="20" name="TextBox 19"/>
          <p:cNvSpPr txBox="1"/>
          <p:nvPr/>
        </p:nvSpPr>
        <p:spPr>
          <a:xfrm>
            <a:off x="9171432" y="4032504"/>
            <a:ext cx="2423160" cy="5943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Fall Score: điểm 0–1</a:t>
            </a:r>
          </a:p>
        </p:txBody>
      </p:sp>
      <p:sp>
        <p:nvSpPr>
          <p:cNvPr id="21" name="Oval 20"/>
          <p:cNvSpPr/>
          <p:nvPr/>
        </p:nvSpPr>
        <p:spPr>
          <a:xfrm>
            <a:off x="8732520" y="4736592"/>
            <a:ext cx="347472" cy="347472"/>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3104" y="4764024"/>
            <a:ext cx="182880" cy="274320"/>
          </a:xfrm>
          <a:prstGeom prst="rect">
            <a:avLst/>
          </a:prstGeom>
          <a:noFill/>
        </p:spPr>
        <p:txBody>
          <a:bodyPr wrap="square" lIns="0" rIns="0" tIns="25400" bIns="0">
            <a:spAutoFit/>
          </a:bodyPr>
          <a:lstStyle/>
          <a:p>
            <a:pPr>
              <a:spcAft>
                <a:spcPts val="600"/>
              </a:spcAft>
              <a:defRPr sz="1300" b="1">
                <a:solidFill>
                  <a:srgbClr val="FFFFFF"/>
                </a:solidFill>
                <a:latin typeface="Arial"/>
              </a:defRPr>
            </a:pPr>
            <a:r>
              <a:t>5</a:t>
            </a:r>
          </a:p>
        </p:txBody>
      </p:sp>
      <p:sp>
        <p:nvSpPr>
          <p:cNvPr id="23" name="TextBox 22"/>
          <p:cNvSpPr txBox="1"/>
          <p:nvPr/>
        </p:nvSpPr>
        <p:spPr>
          <a:xfrm>
            <a:off x="9171432" y="4736592"/>
            <a:ext cx="2423160" cy="5943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Trạng thái hiện tại</a:t>
            </a:r>
          </a:p>
        </p:txBody>
      </p:sp>
      <p:sp>
        <p:nvSpPr>
          <p:cNvPr id="24" name="Oval 23"/>
          <p:cNvSpPr/>
          <p:nvPr/>
        </p:nvSpPr>
        <p:spPr>
          <a:xfrm>
            <a:off x="2921508" y="2834399"/>
            <a:ext cx="228600" cy="228600"/>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85516" y="2838971"/>
            <a:ext cx="137160" cy="228600"/>
          </a:xfrm>
          <a:prstGeom prst="rect">
            <a:avLst/>
          </a:prstGeom>
          <a:noFill/>
        </p:spPr>
        <p:txBody>
          <a:bodyPr wrap="square" lIns="0" rIns="0" tIns="25400" bIns="0">
            <a:spAutoFit/>
          </a:bodyPr>
          <a:lstStyle/>
          <a:p>
            <a:pPr>
              <a:spcAft>
                <a:spcPts val="600"/>
              </a:spcAft>
              <a:defRPr sz="1000" b="1">
                <a:solidFill>
                  <a:srgbClr val="FFFFFF"/>
                </a:solidFill>
                <a:latin typeface="Arial"/>
              </a:defRPr>
            </a:pPr>
            <a:r>
              <a:t>1</a:t>
            </a:r>
          </a:p>
        </p:txBody>
      </p:sp>
      <p:sp>
        <p:nvSpPr>
          <p:cNvPr id="26" name="Oval 25"/>
          <p:cNvSpPr/>
          <p:nvPr/>
        </p:nvSpPr>
        <p:spPr>
          <a:xfrm>
            <a:off x="4424324" y="3759551"/>
            <a:ext cx="228600" cy="228600"/>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8332" y="3764123"/>
            <a:ext cx="137160" cy="228600"/>
          </a:xfrm>
          <a:prstGeom prst="rect">
            <a:avLst/>
          </a:prstGeom>
          <a:noFill/>
        </p:spPr>
        <p:txBody>
          <a:bodyPr wrap="square" lIns="0" rIns="0" tIns="25400" bIns="0">
            <a:spAutoFit/>
          </a:bodyPr>
          <a:lstStyle/>
          <a:p>
            <a:pPr>
              <a:spcAft>
                <a:spcPts val="600"/>
              </a:spcAft>
              <a:defRPr sz="1000" b="1">
                <a:solidFill>
                  <a:srgbClr val="FFFFFF"/>
                </a:solidFill>
                <a:latin typeface="Arial"/>
              </a:defRPr>
            </a:pPr>
            <a:r>
              <a:t>2</a:t>
            </a:r>
          </a:p>
        </p:txBody>
      </p:sp>
      <p:sp>
        <p:nvSpPr>
          <p:cNvPr id="28" name="Oval 27"/>
          <p:cNvSpPr/>
          <p:nvPr/>
        </p:nvSpPr>
        <p:spPr>
          <a:xfrm>
            <a:off x="6797192" y="2834399"/>
            <a:ext cx="228600" cy="228600"/>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61200" y="2838971"/>
            <a:ext cx="137160" cy="228600"/>
          </a:xfrm>
          <a:prstGeom prst="rect">
            <a:avLst/>
          </a:prstGeom>
          <a:noFill/>
        </p:spPr>
        <p:txBody>
          <a:bodyPr wrap="square" lIns="0" rIns="0" tIns="25400" bIns="0">
            <a:spAutoFit/>
          </a:bodyPr>
          <a:lstStyle/>
          <a:p>
            <a:pPr>
              <a:spcAft>
                <a:spcPts val="600"/>
              </a:spcAft>
              <a:defRPr sz="1000" b="1">
                <a:solidFill>
                  <a:srgbClr val="FFFFFF"/>
                </a:solidFill>
                <a:latin typeface="Arial"/>
              </a:defRPr>
            </a:pPr>
            <a:r>
              <a:t>3</a:t>
            </a:r>
          </a:p>
        </p:txBody>
      </p:sp>
      <p:sp>
        <p:nvSpPr>
          <p:cNvPr id="30" name="Oval 29"/>
          <p:cNvSpPr/>
          <p:nvPr/>
        </p:nvSpPr>
        <p:spPr>
          <a:xfrm>
            <a:off x="6955383" y="3357311"/>
            <a:ext cx="228600" cy="228600"/>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9391" y="3361883"/>
            <a:ext cx="137160" cy="228600"/>
          </a:xfrm>
          <a:prstGeom prst="rect">
            <a:avLst/>
          </a:prstGeom>
          <a:noFill/>
        </p:spPr>
        <p:txBody>
          <a:bodyPr wrap="square" lIns="0" rIns="0" tIns="25400" bIns="0">
            <a:spAutoFit/>
          </a:bodyPr>
          <a:lstStyle/>
          <a:p>
            <a:pPr>
              <a:spcAft>
                <a:spcPts val="600"/>
              </a:spcAft>
              <a:defRPr sz="1000" b="1">
                <a:solidFill>
                  <a:srgbClr val="FFFFFF"/>
                </a:solidFill>
                <a:latin typeface="Arial"/>
              </a:defRPr>
            </a:pPr>
            <a:r>
              <a:t>4</a:t>
            </a:r>
          </a:p>
        </p:txBody>
      </p:sp>
      <p:sp>
        <p:nvSpPr>
          <p:cNvPr id="32" name="Oval 31"/>
          <p:cNvSpPr/>
          <p:nvPr/>
        </p:nvSpPr>
        <p:spPr>
          <a:xfrm>
            <a:off x="7588148" y="2834399"/>
            <a:ext cx="228600" cy="228600"/>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52156" y="2838971"/>
            <a:ext cx="137160" cy="228600"/>
          </a:xfrm>
          <a:prstGeom prst="rect">
            <a:avLst/>
          </a:prstGeom>
          <a:noFill/>
        </p:spPr>
        <p:txBody>
          <a:bodyPr wrap="square" lIns="0" rIns="0" tIns="25400" bIns="0">
            <a:spAutoFit/>
          </a:bodyPr>
          <a:lstStyle/>
          <a:p>
            <a:pPr>
              <a:spcAft>
                <a:spcPts val="600"/>
              </a:spcAft>
              <a:defRPr sz="1000" b="1">
                <a:solidFill>
                  <a:srgbClr val="FFFFFF"/>
                </a:solidFill>
                <a:latin typeface="Arial"/>
              </a:defRPr>
            </a:pPr>
            <a:r>
              <a:t>5</a:t>
            </a:r>
          </a:p>
        </p:txBody>
      </p:sp>
      <p:sp>
        <p:nvSpPr>
          <p:cNvPr id="34" name="Rounded Rectangle 33"/>
          <p:cNvSpPr/>
          <p:nvPr/>
        </p:nvSpPr>
        <p:spPr>
          <a:xfrm>
            <a:off x="8759952" y="5577840"/>
            <a:ext cx="2240280" cy="347472"/>
          </a:xfrm>
          <a:prstGeom prst="roundRect">
            <a:avLst>
              <a:gd name="adj" fmla="val 12000"/>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878824" y="5605272"/>
            <a:ext cx="2002536" cy="292608"/>
          </a:xfrm>
          <a:prstGeom prst="rect">
            <a:avLst/>
          </a:prstGeom>
          <a:noFill/>
        </p:spPr>
        <p:txBody>
          <a:bodyPr wrap="square" lIns="0" rIns="0" tIns="25400" bIns="0">
            <a:spAutoFit/>
          </a:bodyPr>
          <a:lstStyle/>
          <a:p>
            <a:pPr>
              <a:spcAft>
                <a:spcPts val="600"/>
              </a:spcAft>
              <a:defRPr sz="1100" b="1">
                <a:solidFill>
                  <a:srgbClr val="C44C99"/>
                </a:solidFill>
                <a:latin typeface="Arial"/>
              </a:defRPr>
            </a:pPr>
            <a:r>
              <a:t>DEMO SIM</a:t>
            </a:r>
          </a:p>
        </p:txBody>
      </p:sp>
      <p:sp>
        <p:nvSpPr>
          <p:cNvPr id="36" name="TextBox 35"/>
          <p:cNvSpPr txBox="1"/>
          <p:nvPr/>
        </p:nvSpPr>
        <p:spPr>
          <a:xfrm>
            <a:off x="603504" y="5916168"/>
            <a:ext cx="7955279" cy="274320"/>
          </a:xfrm>
          <a:prstGeom prst="rect">
            <a:avLst/>
          </a:prstGeom>
          <a:noFill/>
        </p:spPr>
        <p:txBody>
          <a:bodyPr wrap="square" lIns="0" rIns="0" tIns="25400" bIns="0">
            <a:spAutoFit/>
          </a:bodyPr>
          <a:lstStyle/>
          <a:p>
            <a:pPr>
              <a:spcAft>
                <a:spcPts val="600"/>
              </a:spcAft>
              <a:defRPr sz="1300" b="0">
                <a:solidFill>
                  <a:srgbClr val="655D6C"/>
                </a:solidFill>
                <a:latin typeface="Arial"/>
              </a:defRPr>
            </a:pPr>
            <a:r>
              <a:t>Không phải phép đo hiệu quả phát hiện.</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06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Một cơ hội để phản hồi</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Tài liệu góp ý 7, ghi chú — chưa xác minh mã nguồn hiện tại</a:t>
            </a:r>
          </a:p>
        </p:txBody>
      </p:sp>
      <p:sp>
        <p:nvSpPr>
          <p:cNvPr id="8" name="Rounded Rectangle 7"/>
          <p:cNvSpPr/>
          <p:nvPr/>
        </p:nvSpPr>
        <p:spPr>
          <a:xfrm>
            <a:off x="548640"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478024"/>
            <a:ext cx="3124200" cy="868680"/>
          </a:xfrm>
          <a:prstGeom prst="rect">
            <a:avLst/>
          </a:prstGeom>
          <a:noFill/>
        </p:spPr>
        <p:txBody>
          <a:bodyPr wrap="square" lIns="0" rIns="0" tIns="25400" bIns="0">
            <a:spAutoFit/>
          </a:bodyPr>
          <a:lstStyle/>
          <a:p>
            <a:pPr>
              <a:spcAft>
                <a:spcPts val="600"/>
              </a:spcAft>
              <a:defRPr sz="2300" b="1">
                <a:solidFill>
                  <a:srgbClr val="C44C99"/>
                </a:solidFill>
                <a:latin typeface="Arial"/>
              </a:defRPr>
            </a:pPr>
            <a:r>
              <a:t>FALLEN</a:t>
            </a:r>
          </a:p>
        </p:txBody>
      </p:sp>
      <p:sp>
        <p:nvSpPr>
          <p:cNvPr id="10" name="TextBox 9"/>
          <p:cNvSpPr txBox="1"/>
          <p:nvPr/>
        </p:nvSpPr>
        <p:spPr>
          <a:xfrm>
            <a:off x="758952"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Mở hộp thoại theo góp ý</a:t>
            </a:r>
          </a:p>
        </p:txBody>
      </p:sp>
      <p:sp>
        <p:nvSpPr>
          <p:cNvPr id="11" name="Rounded Rectangle 10"/>
          <p:cNvSpPr/>
          <p:nvPr/>
        </p:nvSpPr>
        <p:spPr>
          <a:xfrm>
            <a:off x="4322064"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32376" y="2478024"/>
            <a:ext cx="3124200" cy="868680"/>
          </a:xfrm>
          <a:prstGeom prst="rect">
            <a:avLst/>
          </a:prstGeom>
          <a:noFill/>
        </p:spPr>
        <p:txBody>
          <a:bodyPr wrap="square" lIns="0" rIns="0" tIns="25400" bIns="0">
            <a:spAutoFit/>
          </a:bodyPr>
          <a:lstStyle/>
          <a:p>
            <a:pPr>
              <a:spcAft>
                <a:spcPts val="600"/>
              </a:spcAft>
              <a:defRPr sz="2300" b="1">
                <a:solidFill>
                  <a:srgbClr val="20212A"/>
                </a:solidFill>
                <a:latin typeface="Arial"/>
              </a:defRPr>
            </a:pPr>
            <a:r>
              <a:t>15 giây</a:t>
            </a:r>
          </a:p>
        </p:txBody>
      </p:sp>
      <p:sp>
        <p:nvSpPr>
          <p:cNvPr id="13" name="TextBox 12"/>
          <p:cNvSpPr txBox="1"/>
          <p:nvPr/>
        </p:nvSpPr>
        <p:spPr>
          <a:xfrm>
            <a:off x="4532376"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“Tôi ổn” để hủy hoặc chọn gửi ngay</a:t>
            </a:r>
          </a:p>
        </p:txBody>
      </p:sp>
      <p:sp>
        <p:nvSpPr>
          <p:cNvPr id="14" name="Rounded Rectangle 13"/>
          <p:cNvSpPr/>
          <p:nvPr/>
        </p:nvSpPr>
        <p:spPr>
          <a:xfrm>
            <a:off x="8095488"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305800" y="2478024"/>
            <a:ext cx="3124200" cy="868680"/>
          </a:xfrm>
          <a:prstGeom prst="rect">
            <a:avLst/>
          </a:prstGeom>
          <a:noFill/>
        </p:spPr>
        <p:txBody>
          <a:bodyPr wrap="square" lIns="0" rIns="0" tIns="25400" bIns="0">
            <a:spAutoFit/>
          </a:bodyPr>
          <a:lstStyle/>
          <a:p>
            <a:pPr>
              <a:spcAft>
                <a:spcPts val="600"/>
              </a:spcAft>
              <a:defRPr sz="2300" b="1">
                <a:solidFill>
                  <a:srgbClr val="20212A"/>
                </a:solidFill>
                <a:latin typeface="Arial"/>
              </a:defRPr>
            </a:pPr>
            <a:r>
              <a:t>Thử gửi email</a:t>
            </a:r>
          </a:p>
        </p:txBody>
      </p:sp>
      <p:sp>
        <p:nvSpPr>
          <p:cNvPr id="16" name="TextBox 15"/>
          <p:cNvSpPr txBox="1"/>
          <p:nvPr/>
        </p:nvSpPr>
        <p:spPr>
          <a:xfrm>
            <a:off x="8305800"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Cần dịch vụ và kết nối mạng</a:t>
            </a:r>
          </a:p>
        </p:txBody>
      </p:sp>
      <p:sp>
        <p:nvSpPr>
          <p:cNvPr id="17" name="TextBox 16"/>
          <p:cNvSpPr txBox="1"/>
          <p:nvPr/>
        </p:nvSpPr>
        <p:spPr>
          <a:xfrm>
            <a:off x="603504" y="5230368"/>
            <a:ext cx="10927080" cy="658368"/>
          </a:xfrm>
          <a:prstGeom prst="rect">
            <a:avLst/>
          </a:prstGeom>
          <a:noFill/>
        </p:spPr>
        <p:txBody>
          <a:bodyPr wrap="square" lIns="0" rIns="0" tIns="25400" bIns="0">
            <a:spAutoFit/>
          </a:bodyPr>
          <a:lstStyle/>
          <a:p>
            <a:pPr>
              <a:spcAft>
                <a:spcPts val="600"/>
              </a:spcAft>
              <a:defRPr sz="1800" b="1">
                <a:solidFill>
                  <a:srgbClr val="C44C99"/>
                </a:solidFill>
                <a:latin typeface="Arial"/>
              </a:defRPr>
            </a:pPr>
            <a:r>
              <a:t>Không mô tả hai chu kỳ 15 giây nối tiếp; chưa kiểm chứng phiên ứng dụng hiện hành.</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07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33 điểm mốc. Một đầu vào, chưa phải kết luận.</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Google AI Edge · Pose Landmarker · Bài gốc 7</a:t>
            </a:r>
          </a:p>
        </p:txBody>
      </p:sp>
      <p:cxnSp>
        <p:nvCxnSpPr>
          <p:cNvPr id="8" name="Connector 7"/>
          <p:cNvCxnSpPr/>
          <p:nvPr/>
        </p:nvCxnSpPr>
        <p:spPr>
          <a:xfrm>
            <a:off x="2057400" y="2423160"/>
            <a:ext cx="1600200" cy="0"/>
          </a:xfrm>
          <a:prstGeom prst="line">
            <a:avLst/>
          </a:prstGeom>
          <a:ln w="38100">
            <a:solidFill>
              <a:srgbClr val="4F8D6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57400" y="2423160"/>
            <a:ext cx="182880" cy="1280160"/>
          </a:xfrm>
          <a:prstGeom prst="line">
            <a:avLst/>
          </a:prstGeom>
          <a:ln w="38100">
            <a:solidFill>
              <a:srgbClr val="4F8D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474720" y="2423160"/>
            <a:ext cx="182880" cy="1280160"/>
          </a:xfrm>
          <a:prstGeom prst="line">
            <a:avLst/>
          </a:prstGeom>
          <a:ln w="38100">
            <a:solidFill>
              <a:srgbClr val="4F8D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240280" y="3703320"/>
            <a:ext cx="1234440" cy="0"/>
          </a:xfrm>
          <a:prstGeom prst="line">
            <a:avLst/>
          </a:prstGeom>
          <a:ln w="38100">
            <a:solidFill>
              <a:srgbClr val="4F8D6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057400" y="3703320"/>
            <a:ext cx="182880" cy="960120"/>
          </a:xfrm>
          <a:prstGeom prst="line">
            <a:avLst/>
          </a:prstGeom>
          <a:ln w="38100">
            <a:solidFill>
              <a:srgbClr val="4F8D6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474720" y="3703320"/>
            <a:ext cx="182880" cy="960120"/>
          </a:xfrm>
          <a:prstGeom prst="line">
            <a:avLst/>
          </a:prstGeom>
          <a:ln w="38100">
            <a:solidFill>
              <a:srgbClr val="4F8D6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965960" y="4663440"/>
            <a:ext cx="91440" cy="932688"/>
          </a:xfrm>
          <a:prstGeom prst="line">
            <a:avLst/>
          </a:prstGeom>
          <a:ln w="38100">
            <a:solidFill>
              <a:srgbClr val="4F8D6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657600" y="4663440"/>
            <a:ext cx="91439" cy="932688"/>
          </a:xfrm>
          <a:prstGeom prst="line">
            <a:avLst/>
          </a:prstGeom>
          <a:ln w="38100">
            <a:solidFill>
              <a:srgbClr val="4F8D61"/>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514600" y="1819656"/>
            <a:ext cx="658368" cy="658368"/>
          </a:xfrm>
          <a:prstGeom prst="ellipse">
            <a:avLst/>
          </a:prstGeom>
          <a:solidFill>
            <a:srgbClr val="F2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02536" y="2368296"/>
            <a:ext cx="109728" cy="109728"/>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85416" y="2286000"/>
            <a:ext cx="411480" cy="365760"/>
          </a:xfrm>
          <a:prstGeom prst="rect">
            <a:avLst/>
          </a:prstGeom>
          <a:noFill/>
        </p:spPr>
        <p:txBody>
          <a:bodyPr wrap="square" lIns="0" rIns="0" tIns="25400" bIns="0">
            <a:spAutoFit/>
          </a:bodyPr>
          <a:lstStyle/>
          <a:p>
            <a:pPr>
              <a:spcAft>
                <a:spcPts val="600"/>
              </a:spcAft>
              <a:defRPr sz="1600" b="1">
                <a:solidFill>
                  <a:srgbClr val="C44C99"/>
                </a:solidFill>
                <a:latin typeface="Arial"/>
              </a:defRPr>
            </a:pPr>
            <a:r>
              <a:t>11</a:t>
            </a:r>
          </a:p>
        </p:txBody>
      </p:sp>
      <p:sp>
        <p:nvSpPr>
          <p:cNvPr id="19" name="Oval 18"/>
          <p:cNvSpPr/>
          <p:nvPr/>
        </p:nvSpPr>
        <p:spPr>
          <a:xfrm>
            <a:off x="3602736" y="2368296"/>
            <a:ext cx="109728" cy="109728"/>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85615" y="2286000"/>
            <a:ext cx="411480" cy="365760"/>
          </a:xfrm>
          <a:prstGeom prst="rect">
            <a:avLst/>
          </a:prstGeom>
          <a:noFill/>
        </p:spPr>
        <p:txBody>
          <a:bodyPr wrap="square" lIns="0" rIns="0" tIns="25400" bIns="0">
            <a:spAutoFit/>
          </a:bodyPr>
          <a:lstStyle/>
          <a:p>
            <a:pPr>
              <a:spcAft>
                <a:spcPts val="600"/>
              </a:spcAft>
              <a:defRPr sz="1600" b="1">
                <a:solidFill>
                  <a:srgbClr val="C44C99"/>
                </a:solidFill>
                <a:latin typeface="Arial"/>
              </a:defRPr>
            </a:pPr>
            <a:r>
              <a:t>12</a:t>
            </a:r>
          </a:p>
        </p:txBody>
      </p:sp>
      <p:sp>
        <p:nvSpPr>
          <p:cNvPr id="21" name="Oval 20"/>
          <p:cNvSpPr/>
          <p:nvPr/>
        </p:nvSpPr>
        <p:spPr>
          <a:xfrm>
            <a:off x="2185416" y="3648456"/>
            <a:ext cx="109728" cy="109728"/>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68296" y="3566160"/>
            <a:ext cx="411480" cy="365760"/>
          </a:xfrm>
          <a:prstGeom prst="rect">
            <a:avLst/>
          </a:prstGeom>
          <a:noFill/>
        </p:spPr>
        <p:txBody>
          <a:bodyPr wrap="square" lIns="0" rIns="0" tIns="25400" bIns="0">
            <a:spAutoFit/>
          </a:bodyPr>
          <a:lstStyle/>
          <a:p>
            <a:pPr>
              <a:spcAft>
                <a:spcPts val="600"/>
              </a:spcAft>
              <a:defRPr sz="1600" b="1">
                <a:solidFill>
                  <a:srgbClr val="C44C99"/>
                </a:solidFill>
                <a:latin typeface="Arial"/>
              </a:defRPr>
            </a:pPr>
            <a:r>
              <a:t>23</a:t>
            </a:r>
          </a:p>
        </p:txBody>
      </p:sp>
      <p:sp>
        <p:nvSpPr>
          <p:cNvPr id="23" name="Oval 22"/>
          <p:cNvSpPr/>
          <p:nvPr/>
        </p:nvSpPr>
        <p:spPr>
          <a:xfrm>
            <a:off x="3419856" y="3648456"/>
            <a:ext cx="109728" cy="109728"/>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02736" y="3566160"/>
            <a:ext cx="411480" cy="365760"/>
          </a:xfrm>
          <a:prstGeom prst="rect">
            <a:avLst/>
          </a:prstGeom>
          <a:noFill/>
        </p:spPr>
        <p:txBody>
          <a:bodyPr wrap="square" lIns="0" rIns="0" tIns="25400" bIns="0">
            <a:spAutoFit/>
          </a:bodyPr>
          <a:lstStyle/>
          <a:p>
            <a:pPr>
              <a:spcAft>
                <a:spcPts val="600"/>
              </a:spcAft>
              <a:defRPr sz="1600" b="1">
                <a:solidFill>
                  <a:srgbClr val="C44C99"/>
                </a:solidFill>
                <a:latin typeface="Arial"/>
              </a:defRPr>
            </a:pPr>
            <a:r>
              <a:t>24</a:t>
            </a:r>
          </a:p>
        </p:txBody>
      </p:sp>
      <p:sp>
        <p:nvSpPr>
          <p:cNvPr id="25" name="Oval 24"/>
          <p:cNvSpPr/>
          <p:nvPr/>
        </p:nvSpPr>
        <p:spPr>
          <a:xfrm>
            <a:off x="2002536" y="4608576"/>
            <a:ext cx="109728" cy="109728"/>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85416" y="4526279"/>
            <a:ext cx="411480" cy="365760"/>
          </a:xfrm>
          <a:prstGeom prst="rect">
            <a:avLst/>
          </a:prstGeom>
          <a:noFill/>
        </p:spPr>
        <p:txBody>
          <a:bodyPr wrap="square" lIns="0" rIns="0" tIns="25400" bIns="0">
            <a:spAutoFit/>
          </a:bodyPr>
          <a:lstStyle/>
          <a:p>
            <a:pPr>
              <a:spcAft>
                <a:spcPts val="600"/>
              </a:spcAft>
              <a:defRPr sz="1600" b="1">
                <a:solidFill>
                  <a:srgbClr val="C44C99"/>
                </a:solidFill>
                <a:latin typeface="Arial"/>
              </a:defRPr>
            </a:pPr>
            <a:r>
              <a:t>25</a:t>
            </a:r>
          </a:p>
        </p:txBody>
      </p:sp>
      <p:sp>
        <p:nvSpPr>
          <p:cNvPr id="27" name="Oval 26"/>
          <p:cNvSpPr/>
          <p:nvPr/>
        </p:nvSpPr>
        <p:spPr>
          <a:xfrm>
            <a:off x="3602736" y="4608576"/>
            <a:ext cx="109728" cy="109728"/>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85615" y="4526279"/>
            <a:ext cx="411480" cy="365760"/>
          </a:xfrm>
          <a:prstGeom prst="rect">
            <a:avLst/>
          </a:prstGeom>
          <a:noFill/>
        </p:spPr>
        <p:txBody>
          <a:bodyPr wrap="square" lIns="0" rIns="0" tIns="25400" bIns="0">
            <a:spAutoFit/>
          </a:bodyPr>
          <a:lstStyle/>
          <a:p>
            <a:pPr>
              <a:spcAft>
                <a:spcPts val="600"/>
              </a:spcAft>
              <a:defRPr sz="1600" b="1">
                <a:solidFill>
                  <a:srgbClr val="C44C99"/>
                </a:solidFill>
                <a:latin typeface="Arial"/>
              </a:defRPr>
            </a:pPr>
            <a:r>
              <a:t>26</a:t>
            </a:r>
          </a:p>
        </p:txBody>
      </p:sp>
      <p:sp>
        <p:nvSpPr>
          <p:cNvPr id="29" name="Oval 28"/>
          <p:cNvSpPr/>
          <p:nvPr/>
        </p:nvSpPr>
        <p:spPr>
          <a:xfrm>
            <a:off x="1911095" y="5541264"/>
            <a:ext cx="109728" cy="109728"/>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93976" y="5458968"/>
            <a:ext cx="411480" cy="365760"/>
          </a:xfrm>
          <a:prstGeom prst="rect">
            <a:avLst/>
          </a:prstGeom>
          <a:noFill/>
        </p:spPr>
        <p:txBody>
          <a:bodyPr wrap="square" lIns="0" rIns="0" tIns="25400" bIns="0">
            <a:spAutoFit/>
          </a:bodyPr>
          <a:lstStyle/>
          <a:p>
            <a:pPr>
              <a:spcAft>
                <a:spcPts val="600"/>
              </a:spcAft>
              <a:defRPr sz="1600" b="1">
                <a:solidFill>
                  <a:srgbClr val="C44C99"/>
                </a:solidFill>
                <a:latin typeface="Arial"/>
              </a:defRPr>
            </a:pPr>
            <a:r>
              <a:t>27</a:t>
            </a:r>
          </a:p>
        </p:txBody>
      </p:sp>
      <p:sp>
        <p:nvSpPr>
          <p:cNvPr id="31" name="Oval 30"/>
          <p:cNvSpPr/>
          <p:nvPr/>
        </p:nvSpPr>
        <p:spPr>
          <a:xfrm>
            <a:off x="3694176" y="5541264"/>
            <a:ext cx="109728" cy="109728"/>
          </a:xfrm>
          <a:prstGeom prst="ellipse">
            <a:avLst/>
          </a:prstGeom>
          <a:solidFill>
            <a:srgbClr val="C44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77055" y="5458968"/>
            <a:ext cx="411480" cy="365760"/>
          </a:xfrm>
          <a:prstGeom prst="rect">
            <a:avLst/>
          </a:prstGeom>
          <a:noFill/>
        </p:spPr>
        <p:txBody>
          <a:bodyPr wrap="square" lIns="0" rIns="0" tIns="25400" bIns="0">
            <a:spAutoFit/>
          </a:bodyPr>
          <a:lstStyle/>
          <a:p>
            <a:pPr>
              <a:spcAft>
                <a:spcPts val="600"/>
              </a:spcAft>
              <a:defRPr sz="1600" b="1">
                <a:solidFill>
                  <a:srgbClr val="C44C99"/>
                </a:solidFill>
                <a:latin typeface="Arial"/>
              </a:defRPr>
            </a:pPr>
            <a:r>
              <a:t>28</a:t>
            </a:r>
          </a:p>
        </p:txBody>
      </p:sp>
      <p:sp>
        <p:nvSpPr>
          <p:cNvPr id="33" name="Rounded Rectangle 32"/>
          <p:cNvSpPr/>
          <p:nvPr/>
        </p:nvSpPr>
        <p:spPr>
          <a:xfrm>
            <a:off x="5577840" y="2057400"/>
            <a:ext cx="6035040" cy="93268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806440" y="2221992"/>
            <a:ext cx="5532120" cy="685800"/>
          </a:xfrm>
          <a:prstGeom prst="rect">
            <a:avLst/>
          </a:prstGeom>
          <a:noFill/>
        </p:spPr>
        <p:txBody>
          <a:bodyPr wrap="square" lIns="0" rIns="0" tIns="25400" bIns="0">
            <a:spAutoFit/>
          </a:bodyPr>
          <a:lstStyle/>
          <a:p>
            <a:pPr>
              <a:spcAft>
                <a:spcPts val="600"/>
              </a:spcAft>
              <a:defRPr sz="2000" b="1">
                <a:solidFill>
                  <a:srgbClr val="20212A"/>
                </a:solidFill>
                <a:latin typeface="Arial"/>
              </a:defRPr>
            </a:pPr>
            <a:r>
              <a:t>33 điểm mốc là đầu vào tư thế</a:t>
            </a:r>
          </a:p>
        </p:txBody>
      </p:sp>
      <p:sp>
        <p:nvSpPr>
          <p:cNvPr id="35" name="Rounded Rectangle 34"/>
          <p:cNvSpPr/>
          <p:nvPr/>
        </p:nvSpPr>
        <p:spPr>
          <a:xfrm>
            <a:off x="5577840" y="3200400"/>
            <a:ext cx="6035040" cy="93268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806440" y="3364992"/>
            <a:ext cx="5532120" cy="685800"/>
          </a:xfrm>
          <a:prstGeom prst="rect">
            <a:avLst/>
          </a:prstGeom>
          <a:noFill/>
        </p:spPr>
        <p:txBody>
          <a:bodyPr wrap="square" lIns="0" rIns="0" tIns="25400" bIns="0">
            <a:spAutoFit/>
          </a:bodyPr>
          <a:lstStyle/>
          <a:p>
            <a:pPr>
              <a:spcAft>
                <a:spcPts val="600"/>
              </a:spcAft>
              <a:defRPr sz="2000" b="0">
                <a:solidFill>
                  <a:srgbClr val="20212A"/>
                </a:solidFill>
                <a:latin typeface="Arial"/>
              </a:defRPr>
            </a:pPr>
            <a:r>
              <a:t>Vai 11/12 · Hông 23/24</a:t>
            </a:r>
          </a:p>
          <a:p>
            <a:pPr>
              <a:spcAft>
                <a:spcPts val="600"/>
              </a:spcAft>
              <a:defRPr sz="2000" b="0">
                <a:solidFill>
                  <a:srgbClr val="20212A"/>
                </a:solidFill>
                <a:latin typeface="Arial"/>
              </a:defRPr>
            </a:pPr>
            <a:r>
              <a:t>Gối 25/26 · Cổ chân 27/28</a:t>
            </a:r>
          </a:p>
        </p:txBody>
      </p:sp>
      <p:sp>
        <p:nvSpPr>
          <p:cNvPr id="37" name="Rounded Rectangle 36"/>
          <p:cNvSpPr/>
          <p:nvPr/>
        </p:nvSpPr>
        <p:spPr>
          <a:xfrm>
            <a:off x="5577840" y="4343400"/>
            <a:ext cx="6035040" cy="93268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806440" y="4507992"/>
            <a:ext cx="5532120" cy="685800"/>
          </a:xfrm>
          <a:prstGeom prst="rect">
            <a:avLst/>
          </a:prstGeom>
          <a:noFill/>
        </p:spPr>
        <p:txBody>
          <a:bodyPr wrap="square" lIns="0" rIns="0" tIns="25400" bIns="0">
            <a:spAutoFit/>
          </a:bodyPr>
          <a:lstStyle/>
          <a:p>
            <a:pPr>
              <a:spcAft>
                <a:spcPts val="600"/>
              </a:spcAft>
              <a:defRPr sz="2000" b="0">
                <a:solidFill>
                  <a:srgbClr val="20212A"/>
                </a:solidFill>
                <a:latin typeface="Arial"/>
              </a:defRPr>
            </a:pPr>
            <a:r>
              <a:t>Visibility khác Fall Score</a:t>
            </a:r>
          </a:p>
          <a:p>
            <a:pPr>
              <a:spcAft>
                <a:spcPts val="600"/>
              </a:spcAft>
              <a:defRPr sz="2000" b="0">
                <a:solidFill>
                  <a:srgbClr val="20212A"/>
                </a:solidFill>
                <a:latin typeface="Arial"/>
              </a:defRPr>
            </a:pPr>
            <a:r>
              <a:t>MediaPipe không tự kết luận ngã</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08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Thiếu dữ liệu không có nghĩa là an toàn</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Tài liệu góp ý 9, ghi chú · Nguồn ứng dụng chưa được cung cấp</a:t>
            </a:r>
          </a:p>
        </p:txBody>
      </p:sp>
      <p:sp>
        <p:nvSpPr>
          <p:cNvPr id="8" name="Rounded Rectangle 7"/>
          <p:cNvSpPr/>
          <p:nvPr/>
        </p:nvSpPr>
        <p:spPr>
          <a:xfrm>
            <a:off x="548640"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478024"/>
            <a:ext cx="3124200" cy="868680"/>
          </a:xfrm>
          <a:prstGeom prst="rect">
            <a:avLst/>
          </a:prstGeom>
          <a:noFill/>
        </p:spPr>
        <p:txBody>
          <a:bodyPr wrap="square" lIns="0" rIns="0" tIns="25400" bIns="0">
            <a:spAutoFit/>
          </a:bodyPr>
          <a:lstStyle/>
          <a:p>
            <a:pPr>
              <a:spcAft>
                <a:spcPts val="600"/>
              </a:spcAft>
              <a:defRPr sz="2300" b="1">
                <a:solidFill>
                  <a:srgbClr val="C44C99"/>
                </a:solidFill>
                <a:latin typeface="Arial"/>
              </a:defRPr>
            </a:pPr>
            <a:r>
              <a:t>NO_PERSON</a:t>
            </a:r>
          </a:p>
        </p:txBody>
      </p:sp>
      <p:sp>
        <p:nvSpPr>
          <p:cNvPr id="10" name="TextBox 9"/>
          <p:cNvSpPr txBox="1"/>
          <p:nvPr/>
        </p:nvSpPr>
        <p:spPr>
          <a:xfrm>
            <a:off x="758952"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Chưa có tư thế hợp lệ</a:t>
            </a:r>
          </a:p>
        </p:txBody>
      </p:sp>
      <p:sp>
        <p:nvSpPr>
          <p:cNvPr id="11" name="Rounded Rectangle 10"/>
          <p:cNvSpPr/>
          <p:nvPr/>
        </p:nvSpPr>
        <p:spPr>
          <a:xfrm>
            <a:off x="4322064"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32376" y="2478024"/>
            <a:ext cx="3124200" cy="868680"/>
          </a:xfrm>
          <a:prstGeom prst="rect">
            <a:avLst/>
          </a:prstGeom>
          <a:noFill/>
        </p:spPr>
        <p:txBody>
          <a:bodyPr wrap="square" lIns="0" rIns="0" tIns="25400" bIns="0">
            <a:spAutoFit/>
          </a:bodyPr>
          <a:lstStyle/>
          <a:p>
            <a:pPr>
              <a:spcAft>
                <a:spcPts val="600"/>
              </a:spcAft>
              <a:defRPr sz="2300" b="1">
                <a:solidFill>
                  <a:srgbClr val="20212A"/>
                </a:solidFill>
                <a:latin typeface="Arial"/>
              </a:defRPr>
            </a:pPr>
            <a:r>
              <a:t>PARTIAL_POSE</a:t>
            </a:r>
          </a:p>
        </p:txBody>
      </p:sp>
      <p:sp>
        <p:nvSpPr>
          <p:cNvPr id="13" name="TextBox 12"/>
          <p:cNvSpPr txBox="1"/>
          <p:nvPr/>
        </p:nvSpPr>
        <p:spPr>
          <a:xfrm>
            <a:off x="4532376"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Dữ liệu thân chưa đủ tin cậy</a:t>
            </a:r>
          </a:p>
        </p:txBody>
      </p:sp>
      <p:sp>
        <p:nvSpPr>
          <p:cNvPr id="14" name="Rounded Rectangle 13"/>
          <p:cNvSpPr/>
          <p:nvPr/>
        </p:nvSpPr>
        <p:spPr>
          <a:xfrm>
            <a:off x="8095488"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305800" y="2478024"/>
            <a:ext cx="3124200" cy="868680"/>
          </a:xfrm>
          <a:prstGeom prst="rect">
            <a:avLst/>
          </a:prstGeom>
          <a:noFill/>
        </p:spPr>
        <p:txBody>
          <a:bodyPr wrap="square" lIns="0" rIns="0" tIns="25400" bIns="0">
            <a:spAutoFit/>
          </a:bodyPr>
          <a:lstStyle/>
          <a:p>
            <a:pPr>
              <a:spcAft>
                <a:spcPts val="600"/>
              </a:spcAft>
              <a:defRPr sz="2300" b="1">
                <a:solidFill>
                  <a:srgbClr val="20212A"/>
                </a:solidFill>
                <a:latin typeface="Arial"/>
              </a:defRPr>
            </a:pPr>
            <a:r>
              <a:t>ID tạm thời</a:t>
            </a:r>
          </a:p>
        </p:txBody>
      </p:sp>
      <p:sp>
        <p:nvSpPr>
          <p:cNvPr id="16" name="TextBox 15"/>
          <p:cNvSpPr txBox="1"/>
          <p:nvPr/>
        </p:nvSpPr>
        <p:spPr>
          <a:xfrm>
            <a:off x="8305800"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Có thể đổi khi mất dấu</a:t>
            </a:r>
          </a:p>
        </p:txBody>
      </p:sp>
      <p:sp>
        <p:nvSpPr>
          <p:cNvPr id="17" name="TextBox 16"/>
          <p:cNvSpPr txBox="1"/>
          <p:nvPr/>
        </p:nvSpPr>
        <p:spPr>
          <a:xfrm>
            <a:off x="603504" y="5120640"/>
            <a:ext cx="10789920" cy="731520"/>
          </a:xfrm>
          <a:prstGeom prst="rect">
            <a:avLst/>
          </a:prstGeom>
          <a:noFill/>
        </p:spPr>
        <p:txBody>
          <a:bodyPr wrap="square" lIns="0" rIns="0" tIns="25400" bIns="0">
            <a:spAutoFit/>
          </a:bodyPr>
          <a:lstStyle/>
          <a:p>
            <a:pPr>
              <a:spcAft>
                <a:spcPts val="600"/>
              </a:spcAft>
              <a:defRPr sz="1900" b="1">
                <a:solidFill>
                  <a:srgbClr val="20212A"/>
                </a:solidFill>
                <a:latin typeface="Arial"/>
              </a:defRPr>
            </a:pPr>
            <a:r>
              <a:t>Chỉ đánh giá khi dữ liệu thân đủ tin cậy; không đánh đồng “thiếu dữ liệu” với “an toàn”.</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09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Nằm ngang chỉ là một dấu hiệu</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Tài liệu góp ý 10 · Ngưỡng tham khảo, chưa xác minh source</a:t>
            </a:r>
          </a:p>
        </p:txBody>
      </p:sp>
      <p:sp>
        <p:nvSpPr>
          <p:cNvPr id="8" name="Rounded Rectangle 7"/>
          <p:cNvSpPr/>
          <p:nvPr/>
        </p:nvSpPr>
        <p:spPr>
          <a:xfrm>
            <a:off x="548640" y="2048256"/>
            <a:ext cx="3538728" cy="239572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991106" y="2331720"/>
            <a:ext cx="653796" cy="1188720"/>
          </a:xfrm>
          <a:prstGeom prst="rect">
            <a:avLst/>
          </a:prstGeom>
          <a:solidFill>
            <a:srgbClr val="F2D8E8"/>
          </a:solidFill>
          <a:ln w="12700">
            <a:solidFill>
              <a:srgbClr val="C44C9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31520" y="3767328"/>
            <a:ext cx="3154680" cy="457200"/>
          </a:xfrm>
          <a:prstGeom prst="rect">
            <a:avLst/>
          </a:prstGeom>
          <a:noFill/>
        </p:spPr>
        <p:txBody>
          <a:bodyPr wrap="square" lIns="0" rIns="0" tIns="25400" bIns="0">
            <a:spAutoFit/>
          </a:bodyPr>
          <a:lstStyle/>
          <a:p>
            <a:pPr algn="ctr">
              <a:spcAft>
                <a:spcPts val="600"/>
              </a:spcAft>
              <a:defRPr sz="1900" b="1">
                <a:solidFill>
                  <a:srgbClr val="4F8D61"/>
                </a:solidFill>
                <a:latin typeface="Arial"/>
              </a:defRPr>
            </a:pPr>
            <a:r>
              <a:t>Dọc: r &lt; 0,75</a:t>
            </a:r>
          </a:p>
        </p:txBody>
      </p:sp>
      <p:sp>
        <p:nvSpPr>
          <p:cNvPr id="11" name="Rounded Rectangle 10"/>
          <p:cNvSpPr/>
          <p:nvPr/>
        </p:nvSpPr>
        <p:spPr>
          <a:xfrm>
            <a:off x="4315968" y="2048256"/>
            <a:ext cx="3538728" cy="239572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5628131" y="2468880"/>
            <a:ext cx="914400" cy="914400"/>
          </a:xfrm>
          <a:prstGeom prst="rect">
            <a:avLst/>
          </a:prstGeom>
          <a:solidFill>
            <a:srgbClr val="F2D8E8"/>
          </a:solidFill>
          <a:ln w="12700">
            <a:solidFill>
              <a:srgbClr val="C44C9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498848" y="3767328"/>
            <a:ext cx="3154680" cy="457200"/>
          </a:xfrm>
          <a:prstGeom prst="rect">
            <a:avLst/>
          </a:prstGeom>
          <a:noFill/>
        </p:spPr>
        <p:txBody>
          <a:bodyPr wrap="square" lIns="0" rIns="0" tIns="25400" bIns="0">
            <a:spAutoFit/>
          </a:bodyPr>
          <a:lstStyle/>
          <a:p>
            <a:pPr algn="ctr">
              <a:spcAft>
                <a:spcPts val="600"/>
              </a:spcAft>
              <a:defRPr sz="1900" b="1">
                <a:solidFill>
                  <a:srgbClr val="655D6C"/>
                </a:solidFill>
                <a:latin typeface="Arial"/>
              </a:defRPr>
            </a:pPr>
            <a:r>
              <a:t>Gần vuông</a:t>
            </a:r>
          </a:p>
        </p:txBody>
      </p:sp>
      <p:sp>
        <p:nvSpPr>
          <p:cNvPr id="14" name="Rounded Rectangle 13"/>
          <p:cNvSpPr/>
          <p:nvPr/>
        </p:nvSpPr>
        <p:spPr>
          <a:xfrm>
            <a:off x="8083296" y="2048256"/>
            <a:ext cx="3538728" cy="239572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194292" y="2514600"/>
            <a:ext cx="1316736" cy="822960"/>
          </a:xfrm>
          <a:prstGeom prst="rect">
            <a:avLst/>
          </a:prstGeom>
          <a:solidFill>
            <a:srgbClr val="F2D8E8"/>
          </a:solidFill>
          <a:ln w="12700">
            <a:solidFill>
              <a:srgbClr val="C44C9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266175" y="3767328"/>
            <a:ext cx="3154680" cy="457200"/>
          </a:xfrm>
          <a:prstGeom prst="rect">
            <a:avLst/>
          </a:prstGeom>
          <a:noFill/>
        </p:spPr>
        <p:txBody>
          <a:bodyPr wrap="square" lIns="0" rIns="0" tIns="25400" bIns="0">
            <a:spAutoFit/>
          </a:bodyPr>
          <a:lstStyle/>
          <a:p>
            <a:pPr algn="ctr">
              <a:spcAft>
                <a:spcPts val="600"/>
              </a:spcAft>
              <a:defRPr sz="1900" b="1">
                <a:solidFill>
                  <a:srgbClr val="C44C99"/>
                </a:solidFill>
                <a:latin typeface="Arial"/>
              </a:defRPr>
            </a:pPr>
            <a:r>
              <a:t>Ngang: r &gt; 1,30</a:t>
            </a:r>
          </a:p>
        </p:txBody>
      </p:sp>
      <p:sp>
        <p:nvSpPr>
          <p:cNvPr id="17" name="TextBox 16"/>
          <p:cNvSpPr txBox="1"/>
          <p:nvPr/>
        </p:nvSpPr>
        <p:spPr>
          <a:xfrm>
            <a:off x="612648" y="4709160"/>
            <a:ext cx="10789920" cy="548640"/>
          </a:xfrm>
          <a:prstGeom prst="rect">
            <a:avLst/>
          </a:prstGeom>
          <a:noFill/>
        </p:spPr>
        <p:txBody>
          <a:bodyPr wrap="square" lIns="0" rIns="0" tIns="25400" bIns="0">
            <a:spAutoFit/>
          </a:bodyPr>
          <a:lstStyle/>
          <a:p>
            <a:pPr>
              <a:spcAft>
                <a:spcPts val="600"/>
              </a:spcAft>
              <a:defRPr sz="2500" b="1">
                <a:solidFill>
                  <a:srgbClr val="20212A"/>
                </a:solidFill>
                <a:latin typeface="Arial"/>
              </a:defRPr>
            </a:pPr>
            <a:r>
              <a:t>W = xmax − xmin    H = ymax − ymin    r = W/H</a:t>
            </a:r>
          </a:p>
        </p:txBody>
      </p:sp>
      <p:sp>
        <p:nvSpPr>
          <p:cNvPr id="18" name="TextBox 17"/>
          <p:cNvSpPr txBox="1"/>
          <p:nvPr/>
        </p:nvSpPr>
        <p:spPr>
          <a:xfrm>
            <a:off x="612648" y="5404104"/>
            <a:ext cx="10789920" cy="594360"/>
          </a:xfrm>
          <a:prstGeom prst="rect">
            <a:avLst/>
          </a:prstGeom>
          <a:noFill/>
        </p:spPr>
        <p:txBody>
          <a:bodyPr wrap="square" lIns="0" rIns="0" tIns="25400" bIns="0">
            <a:spAutoFit/>
          </a:bodyPr>
          <a:lstStyle/>
          <a:p>
            <a:pPr>
              <a:spcAft>
                <a:spcPts val="600"/>
              </a:spcAft>
              <a:defRPr sz="1700" b="0">
                <a:solidFill>
                  <a:srgbClr val="655D6C"/>
                </a:solidFill>
                <a:latin typeface="Arial"/>
              </a:defRPr>
            </a:pPr>
            <a:r>
              <a:t>Tọa độ chuẩn hóa; khung ngang chỉ là một dấu hiệu. Ngưỡng dẫn theo góp ý, chưa đối chiếu source.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10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Bảy tín hiệu. Một điểm tổng hợp.</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Bài gốc 9 · Tài liệu góp ý 11</a:t>
            </a:r>
          </a:p>
        </p:txBody>
      </p:sp>
      <p:sp>
        <p:nvSpPr>
          <p:cNvPr id="8" name="TextBox 7"/>
          <p:cNvSpPr txBox="1"/>
          <p:nvPr/>
        </p:nvSpPr>
        <p:spPr>
          <a:xfrm>
            <a:off x="594360" y="1920240"/>
            <a:ext cx="3291840" cy="384048"/>
          </a:xfrm>
          <a:prstGeom prst="rect">
            <a:avLst/>
          </a:prstGeom>
          <a:noFill/>
        </p:spPr>
        <p:txBody>
          <a:bodyPr wrap="square" lIns="0" rIns="0" tIns="25400" bIns="0">
            <a:spAutoFit/>
          </a:bodyPr>
          <a:lstStyle/>
          <a:p>
            <a:pPr>
              <a:spcAft>
                <a:spcPts val="600"/>
              </a:spcAft>
              <a:defRPr sz="1700" b="0">
                <a:solidFill>
                  <a:srgbClr val="20212A"/>
                </a:solidFill>
                <a:latin typeface="Arial"/>
              </a:defRPr>
            </a:pPr>
            <a:r>
              <a:t>Vận tốc dọc</a:t>
            </a:r>
          </a:p>
        </p:txBody>
      </p:sp>
      <p:sp>
        <p:nvSpPr>
          <p:cNvPr id="9" name="Rectangle 8"/>
          <p:cNvSpPr/>
          <p:nvPr/>
        </p:nvSpPr>
        <p:spPr>
          <a:xfrm>
            <a:off x="3913632" y="2011680"/>
            <a:ext cx="3931920" cy="164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913632" y="2011680"/>
            <a:ext cx="3931920" cy="164592"/>
          </a:xfrm>
          <a:prstGeom prst="rect">
            <a:avLst/>
          </a:prstGeom>
          <a:solidFill>
            <a:srgbClr val="B09AC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092440" y="1920240"/>
            <a:ext cx="822960" cy="3657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0.22</a:t>
            </a:r>
          </a:p>
        </p:txBody>
      </p:sp>
      <p:sp>
        <p:nvSpPr>
          <p:cNvPr id="12" name="TextBox 11"/>
          <p:cNvSpPr txBox="1"/>
          <p:nvPr/>
        </p:nvSpPr>
        <p:spPr>
          <a:xfrm>
            <a:off x="594360" y="2423160"/>
            <a:ext cx="3291840" cy="384048"/>
          </a:xfrm>
          <a:prstGeom prst="rect">
            <a:avLst/>
          </a:prstGeom>
          <a:noFill/>
        </p:spPr>
        <p:txBody>
          <a:bodyPr wrap="square" lIns="0" rIns="0" tIns="25400" bIns="0">
            <a:spAutoFit/>
          </a:bodyPr>
          <a:lstStyle/>
          <a:p>
            <a:pPr>
              <a:spcAft>
                <a:spcPts val="600"/>
              </a:spcAft>
              <a:defRPr sz="1700" b="0">
                <a:solidFill>
                  <a:srgbClr val="20212A"/>
                </a:solidFill>
                <a:latin typeface="Arial"/>
              </a:defRPr>
            </a:pPr>
            <a:r>
              <a:t>Góc thân</a:t>
            </a:r>
          </a:p>
        </p:txBody>
      </p:sp>
      <p:sp>
        <p:nvSpPr>
          <p:cNvPr id="13" name="Rectangle 12"/>
          <p:cNvSpPr/>
          <p:nvPr/>
        </p:nvSpPr>
        <p:spPr>
          <a:xfrm>
            <a:off x="3913632" y="2514600"/>
            <a:ext cx="3931920" cy="164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3913632" y="2514600"/>
            <a:ext cx="3574472" cy="164592"/>
          </a:xfrm>
          <a:prstGeom prst="rect">
            <a:avLst/>
          </a:prstGeom>
          <a:solidFill>
            <a:srgbClr val="C44C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092440" y="2423160"/>
            <a:ext cx="822960" cy="3657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0.20</a:t>
            </a:r>
          </a:p>
        </p:txBody>
      </p:sp>
      <p:sp>
        <p:nvSpPr>
          <p:cNvPr id="16" name="TextBox 15"/>
          <p:cNvSpPr txBox="1"/>
          <p:nvPr/>
        </p:nvSpPr>
        <p:spPr>
          <a:xfrm>
            <a:off x="594360" y="2926080"/>
            <a:ext cx="3291840" cy="384048"/>
          </a:xfrm>
          <a:prstGeom prst="rect">
            <a:avLst/>
          </a:prstGeom>
          <a:noFill/>
        </p:spPr>
        <p:txBody>
          <a:bodyPr wrap="square" lIns="0" rIns="0" tIns="25400" bIns="0">
            <a:spAutoFit/>
          </a:bodyPr>
          <a:lstStyle/>
          <a:p>
            <a:pPr>
              <a:spcAft>
                <a:spcPts val="600"/>
              </a:spcAft>
              <a:defRPr sz="1700" b="0">
                <a:solidFill>
                  <a:srgbClr val="20212A"/>
                </a:solidFill>
                <a:latin typeface="Arial"/>
              </a:defRPr>
            </a:pPr>
            <a:r>
              <a:t>Giảm chiều cao</a:t>
            </a:r>
          </a:p>
        </p:txBody>
      </p:sp>
      <p:sp>
        <p:nvSpPr>
          <p:cNvPr id="17" name="Rectangle 16"/>
          <p:cNvSpPr/>
          <p:nvPr/>
        </p:nvSpPr>
        <p:spPr>
          <a:xfrm>
            <a:off x="3913632" y="3017520"/>
            <a:ext cx="3931920" cy="164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913632" y="3017520"/>
            <a:ext cx="3217025" cy="164592"/>
          </a:xfrm>
          <a:prstGeom prst="rect">
            <a:avLst/>
          </a:prstGeom>
          <a:solidFill>
            <a:srgbClr val="B09AC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092440" y="2926080"/>
            <a:ext cx="822960" cy="3657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0.18</a:t>
            </a:r>
          </a:p>
        </p:txBody>
      </p:sp>
      <p:sp>
        <p:nvSpPr>
          <p:cNvPr id="20" name="TextBox 19"/>
          <p:cNvSpPr txBox="1"/>
          <p:nvPr/>
        </p:nvSpPr>
        <p:spPr>
          <a:xfrm>
            <a:off x="594360" y="3429000"/>
            <a:ext cx="3291840" cy="384048"/>
          </a:xfrm>
          <a:prstGeom prst="rect">
            <a:avLst/>
          </a:prstGeom>
          <a:noFill/>
        </p:spPr>
        <p:txBody>
          <a:bodyPr wrap="square" lIns="0" rIns="0" tIns="25400" bIns="0">
            <a:spAutoFit/>
          </a:bodyPr>
          <a:lstStyle/>
          <a:p>
            <a:pPr>
              <a:spcAft>
                <a:spcPts val="600"/>
              </a:spcAft>
              <a:defRPr sz="1700" b="0">
                <a:solidFill>
                  <a:srgbClr val="20212A"/>
                </a:solidFill>
                <a:latin typeface="Arial"/>
              </a:defRPr>
            </a:pPr>
            <a:r>
              <a:t>Đầu thấp hơn hông</a:t>
            </a:r>
          </a:p>
        </p:txBody>
      </p:sp>
      <p:sp>
        <p:nvSpPr>
          <p:cNvPr id="21" name="Rectangle 20"/>
          <p:cNvSpPr/>
          <p:nvPr/>
        </p:nvSpPr>
        <p:spPr>
          <a:xfrm>
            <a:off x="3913632" y="3520440"/>
            <a:ext cx="3931920" cy="164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3913632" y="3520440"/>
            <a:ext cx="2144683" cy="164592"/>
          </a:xfrm>
          <a:prstGeom prst="rect">
            <a:avLst/>
          </a:prstGeom>
          <a:solidFill>
            <a:srgbClr val="C44C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092440" y="3429000"/>
            <a:ext cx="822960" cy="3657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0.12</a:t>
            </a:r>
          </a:p>
        </p:txBody>
      </p:sp>
      <p:sp>
        <p:nvSpPr>
          <p:cNvPr id="24" name="TextBox 23"/>
          <p:cNvSpPr txBox="1"/>
          <p:nvPr/>
        </p:nvSpPr>
        <p:spPr>
          <a:xfrm>
            <a:off x="594360" y="3931920"/>
            <a:ext cx="3291840" cy="384048"/>
          </a:xfrm>
          <a:prstGeom prst="rect">
            <a:avLst/>
          </a:prstGeom>
          <a:noFill/>
        </p:spPr>
        <p:txBody>
          <a:bodyPr wrap="square" lIns="0" rIns="0" tIns="25400" bIns="0">
            <a:spAutoFit/>
          </a:bodyPr>
          <a:lstStyle/>
          <a:p>
            <a:pPr>
              <a:spcAft>
                <a:spcPts val="600"/>
              </a:spcAft>
              <a:defRPr sz="1700" b="0">
                <a:solidFill>
                  <a:srgbClr val="20212A"/>
                </a:solidFill>
                <a:latin typeface="Arial"/>
              </a:defRPr>
            </a:pPr>
            <a:r>
              <a:t>Tư thế ngang</a:t>
            </a:r>
          </a:p>
        </p:txBody>
      </p:sp>
      <p:sp>
        <p:nvSpPr>
          <p:cNvPr id="25" name="Rectangle 24"/>
          <p:cNvSpPr/>
          <p:nvPr/>
        </p:nvSpPr>
        <p:spPr>
          <a:xfrm>
            <a:off x="3913632" y="4023360"/>
            <a:ext cx="3931920" cy="164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3913632" y="4023360"/>
            <a:ext cx="2144683" cy="164592"/>
          </a:xfrm>
          <a:prstGeom prst="rect">
            <a:avLst/>
          </a:prstGeom>
          <a:solidFill>
            <a:srgbClr val="B09AC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092440" y="3931920"/>
            <a:ext cx="822960" cy="3657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0.12</a:t>
            </a:r>
          </a:p>
        </p:txBody>
      </p:sp>
      <p:sp>
        <p:nvSpPr>
          <p:cNvPr id="28" name="TextBox 27"/>
          <p:cNvSpPr txBox="1"/>
          <p:nvPr/>
        </p:nvSpPr>
        <p:spPr>
          <a:xfrm>
            <a:off x="594360" y="4434840"/>
            <a:ext cx="3291840" cy="384048"/>
          </a:xfrm>
          <a:prstGeom prst="rect">
            <a:avLst/>
          </a:prstGeom>
          <a:noFill/>
        </p:spPr>
        <p:txBody>
          <a:bodyPr wrap="square" lIns="0" rIns="0" tIns="25400" bIns="0">
            <a:spAutoFit/>
          </a:bodyPr>
          <a:lstStyle/>
          <a:p>
            <a:pPr>
              <a:spcAft>
                <a:spcPts val="600"/>
              </a:spcAft>
              <a:defRPr sz="1700" b="0">
                <a:solidFill>
                  <a:srgbClr val="20212A"/>
                </a:solidFill>
                <a:latin typeface="Arial"/>
              </a:defRPr>
            </a:pPr>
            <a:r>
              <a:t>Vận tốc dọc duy trì</a:t>
            </a:r>
          </a:p>
        </p:txBody>
      </p:sp>
      <p:sp>
        <p:nvSpPr>
          <p:cNvPr id="29" name="Rectangle 28"/>
          <p:cNvSpPr/>
          <p:nvPr/>
        </p:nvSpPr>
        <p:spPr>
          <a:xfrm>
            <a:off x="3913632" y="4526279"/>
            <a:ext cx="3931920" cy="164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3913632" y="4526279"/>
            <a:ext cx="1429789" cy="164592"/>
          </a:xfrm>
          <a:prstGeom prst="rect">
            <a:avLst/>
          </a:prstGeom>
          <a:solidFill>
            <a:srgbClr val="C44C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092440" y="4434840"/>
            <a:ext cx="822960" cy="3657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0.08</a:t>
            </a:r>
          </a:p>
        </p:txBody>
      </p:sp>
      <p:sp>
        <p:nvSpPr>
          <p:cNvPr id="32" name="TextBox 31"/>
          <p:cNvSpPr txBox="1"/>
          <p:nvPr/>
        </p:nvSpPr>
        <p:spPr>
          <a:xfrm>
            <a:off x="594360" y="4937760"/>
            <a:ext cx="3291840" cy="384048"/>
          </a:xfrm>
          <a:prstGeom prst="rect">
            <a:avLst/>
          </a:prstGeom>
          <a:noFill/>
        </p:spPr>
        <p:txBody>
          <a:bodyPr wrap="square" lIns="0" rIns="0" tIns="25400" bIns="0">
            <a:spAutoFit/>
          </a:bodyPr>
          <a:lstStyle/>
          <a:p>
            <a:pPr>
              <a:spcAft>
                <a:spcPts val="600"/>
              </a:spcAft>
              <a:defRPr sz="1700" b="0">
                <a:solidFill>
                  <a:srgbClr val="20212A"/>
                </a:solidFill>
                <a:latin typeface="Arial"/>
              </a:defRPr>
            </a:pPr>
            <a:r>
              <a:t>Điểm mốc gần đáy ảnh</a:t>
            </a:r>
          </a:p>
        </p:txBody>
      </p:sp>
      <p:sp>
        <p:nvSpPr>
          <p:cNvPr id="33" name="Rectangle 32"/>
          <p:cNvSpPr/>
          <p:nvPr/>
        </p:nvSpPr>
        <p:spPr>
          <a:xfrm>
            <a:off x="3913632" y="5029200"/>
            <a:ext cx="3931920" cy="164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3913632" y="5029200"/>
            <a:ext cx="1429789" cy="164592"/>
          </a:xfrm>
          <a:prstGeom prst="rect">
            <a:avLst/>
          </a:prstGeom>
          <a:solidFill>
            <a:srgbClr val="B09AC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092440" y="4937760"/>
            <a:ext cx="822960" cy="365760"/>
          </a:xfrm>
          <a:prstGeom prst="rect">
            <a:avLst/>
          </a:prstGeom>
          <a:noFill/>
        </p:spPr>
        <p:txBody>
          <a:bodyPr wrap="square" lIns="0" rIns="0" tIns="25400" bIns="0">
            <a:spAutoFit/>
          </a:bodyPr>
          <a:lstStyle/>
          <a:p>
            <a:pPr>
              <a:spcAft>
                <a:spcPts val="600"/>
              </a:spcAft>
              <a:defRPr sz="1700" b="1">
                <a:solidFill>
                  <a:srgbClr val="20212A"/>
                </a:solidFill>
                <a:latin typeface="Arial"/>
              </a:defRPr>
            </a:pPr>
            <a:r>
              <a:t>0.08</a:t>
            </a:r>
          </a:p>
        </p:txBody>
      </p:sp>
      <p:sp>
        <p:nvSpPr>
          <p:cNvPr id="36" name="Rounded Rectangle 35"/>
          <p:cNvSpPr/>
          <p:nvPr/>
        </p:nvSpPr>
        <p:spPr>
          <a:xfrm>
            <a:off x="9144000" y="1947672"/>
            <a:ext cx="2468880" cy="352044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372600" y="2286000"/>
            <a:ext cx="2011680" cy="457200"/>
          </a:xfrm>
          <a:prstGeom prst="rect">
            <a:avLst/>
          </a:prstGeom>
          <a:noFill/>
        </p:spPr>
        <p:txBody>
          <a:bodyPr wrap="square" lIns="0" rIns="0" tIns="25400" bIns="0">
            <a:spAutoFit/>
          </a:bodyPr>
          <a:lstStyle/>
          <a:p>
            <a:pPr>
              <a:spcAft>
                <a:spcPts val="600"/>
              </a:spcAft>
              <a:defRPr sz="2600" b="1">
                <a:solidFill>
                  <a:srgbClr val="20212A"/>
                </a:solidFill>
                <a:latin typeface="Arial"/>
              </a:defRPr>
            </a:pPr>
            <a:r>
              <a:t>Σ wi =</a:t>
            </a:r>
          </a:p>
        </p:txBody>
      </p:sp>
      <p:sp>
        <p:nvSpPr>
          <p:cNvPr id="38" name="TextBox 37"/>
          <p:cNvSpPr txBox="1"/>
          <p:nvPr/>
        </p:nvSpPr>
        <p:spPr>
          <a:xfrm>
            <a:off x="9372600" y="2889504"/>
            <a:ext cx="2011680" cy="822960"/>
          </a:xfrm>
          <a:prstGeom prst="rect">
            <a:avLst/>
          </a:prstGeom>
          <a:noFill/>
        </p:spPr>
        <p:txBody>
          <a:bodyPr wrap="square" lIns="0" rIns="0" tIns="25400" bIns="0">
            <a:spAutoFit/>
          </a:bodyPr>
          <a:lstStyle/>
          <a:p>
            <a:pPr>
              <a:spcAft>
                <a:spcPts val="600"/>
              </a:spcAft>
              <a:defRPr sz="4400" b="1">
                <a:solidFill>
                  <a:srgbClr val="C44C99"/>
                </a:solidFill>
                <a:latin typeface="Arial"/>
              </a:defRPr>
            </a:pPr>
            <a:r>
              <a:t>1,00</a:t>
            </a:r>
          </a:p>
        </p:txBody>
      </p:sp>
      <p:sp>
        <p:nvSpPr>
          <p:cNvPr id="39" name="TextBox 38"/>
          <p:cNvSpPr txBox="1"/>
          <p:nvPr/>
        </p:nvSpPr>
        <p:spPr>
          <a:xfrm>
            <a:off x="9372600" y="4041648"/>
            <a:ext cx="1965960" cy="1051560"/>
          </a:xfrm>
          <a:prstGeom prst="rect">
            <a:avLst/>
          </a:prstGeom>
          <a:noFill/>
        </p:spPr>
        <p:txBody>
          <a:bodyPr wrap="square" lIns="0" rIns="0" tIns="25400" bIns="0">
            <a:spAutoFit/>
          </a:bodyPr>
          <a:lstStyle/>
          <a:p>
            <a:pPr>
              <a:spcAft>
                <a:spcPts val="600"/>
              </a:spcAft>
              <a:defRPr sz="1900" b="1">
                <a:solidFill>
                  <a:srgbClr val="20212A"/>
                </a:solidFill>
                <a:latin typeface="Arial"/>
              </a:defRPr>
            </a:pPr>
            <a:r>
              <a:t>Điểm 0–1</a:t>
            </a:r>
          </a:p>
          <a:p>
            <a:pPr>
              <a:spcAft>
                <a:spcPts val="600"/>
              </a:spcAft>
              <a:defRPr sz="1900" b="1">
                <a:solidFill>
                  <a:srgbClr val="20212A"/>
                </a:solidFill>
                <a:latin typeface="Arial"/>
              </a:defRPr>
            </a:pPr>
            <a:r>
              <a:t>Không phải xác suất</a:t>
            </a:r>
          </a:p>
        </p:txBody>
      </p:sp>
      <p:sp>
        <p:nvSpPr>
          <p:cNvPr id="40" name="TextBox 39"/>
          <p:cNvSpPr txBox="1"/>
          <p:nvPr/>
        </p:nvSpPr>
        <p:spPr>
          <a:xfrm>
            <a:off x="612648" y="5623560"/>
            <a:ext cx="10881360" cy="457200"/>
          </a:xfrm>
          <a:prstGeom prst="rect">
            <a:avLst/>
          </a:prstGeom>
          <a:noFill/>
        </p:spPr>
        <p:txBody>
          <a:bodyPr wrap="square" lIns="0" rIns="0" tIns="25400" bIns="0">
            <a:spAutoFit/>
          </a:bodyPr>
          <a:lstStyle/>
          <a:p>
            <a:pPr>
              <a:spcAft>
                <a:spcPts val="600"/>
              </a:spcAft>
              <a:defRPr sz="2200" b="1">
                <a:solidFill>
                  <a:srgbClr val="20212A"/>
                </a:solidFill>
                <a:latin typeface="Arial"/>
              </a:defRPr>
            </a:pPr>
            <a:r>
              <a:t>FallScore = clamp(mROI × Σ wi si)</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11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0,521 — cách cộng điểm, không phải độ chính xác</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Tài liệu góp ý 12 · Ví dụ giả định, không phải kết quả kiểm thử</a:t>
            </a:r>
          </a:p>
        </p:txBody>
      </p:sp>
      <p:sp>
        <p:nvSpPr>
          <p:cNvPr id="8" name="Rounded Rectangle 7"/>
          <p:cNvSpPr/>
          <p:nvPr/>
        </p:nvSpPr>
        <p:spPr>
          <a:xfrm>
            <a:off x="576072" y="1746504"/>
            <a:ext cx="2606040" cy="347472"/>
          </a:xfrm>
          <a:prstGeom prst="roundRect">
            <a:avLst>
              <a:gd name="adj" fmla="val 12000"/>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94944" y="1773936"/>
            <a:ext cx="2368296" cy="292608"/>
          </a:xfrm>
          <a:prstGeom prst="rect">
            <a:avLst/>
          </a:prstGeom>
          <a:noFill/>
        </p:spPr>
        <p:txBody>
          <a:bodyPr wrap="square" lIns="0" rIns="0" tIns="25400" bIns="0">
            <a:spAutoFit/>
          </a:bodyPr>
          <a:lstStyle/>
          <a:p>
            <a:pPr>
              <a:spcAft>
                <a:spcPts val="600"/>
              </a:spcAft>
              <a:defRPr sz="1100" b="1">
                <a:solidFill>
                  <a:srgbClr val="C44C99"/>
                </a:solidFill>
                <a:latin typeface="Arial"/>
              </a:defRPr>
            </a:pPr>
            <a:r>
              <a:t>VÍ DỤ GIẢ ĐỊNH</a:t>
            </a:r>
          </a:p>
        </p:txBody>
      </p:sp>
      <p:graphicFrame>
        <p:nvGraphicFramePr>
          <p:cNvPr id="10" name="Table 9"/>
          <p:cNvGraphicFramePr>
            <a:graphicFrameLocks noGrp="1"/>
          </p:cNvGraphicFramePr>
          <p:nvPr/>
        </p:nvGraphicFramePr>
        <p:xfrm>
          <a:off x="576072" y="2286000"/>
          <a:ext cx="8412480" cy="3291840"/>
        </p:xfrm>
        <a:graphic>
          <a:graphicData uri="http://schemas.openxmlformats.org/drawingml/2006/table">
            <a:tbl>
              <a:tblPr firstRow="1" bandRow="1">
                <a:tableStyleId>{5C22544A-7EE6-4342-B048-85BDC9FD1C3A}</a:tableStyleId>
              </a:tblPr>
              <a:tblGrid>
                <a:gridCol w="3383280"/>
                <a:gridCol w="1645920"/>
                <a:gridCol w="1371600"/>
                <a:gridCol w="2011680"/>
              </a:tblGrid>
              <a:tr h="411480">
                <a:tc>
                  <a:txBody>
                    <a:bodyPr/>
                    <a:lstStyle/>
                    <a:p>
                      <a:pPr>
                        <a:defRPr sz="1500" b="1">
                          <a:solidFill>
                            <a:srgbClr val="20212A"/>
                          </a:solidFill>
                          <a:latin typeface="Arial"/>
                        </a:defRPr>
                      </a:pPr>
                      <a:r>
                        <a:t>Thành phần</a:t>
                      </a:r>
                    </a:p>
                  </a:txBody>
                  <a:tcPr marL="91440" marT="45720" marB="0">
                    <a:solidFill>
                      <a:srgbClr val="F2D8E8"/>
                    </a:solidFill>
                  </a:tcPr>
                </a:tc>
                <a:tc>
                  <a:txBody>
                    <a:bodyPr/>
                    <a:lstStyle/>
                    <a:p>
                      <a:pPr>
                        <a:defRPr sz="1600" b="1">
                          <a:solidFill>
                            <a:srgbClr val="20212A"/>
                          </a:solidFill>
                          <a:latin typeface="Arial"/>
                        </a:defRPr>
                      </a:pPr>
                      <a:r>
                        <a:t>Điểm si</a:t>
                      </a:r>
                    </a:p>
                  </a:txBody>
                  <a:tcPr marL="91440" marT="45720" marB="0">
                    <a:solidFill>
                      <a:srgbClr val="F2D8E8"/>
                    </a:solidFill>
                  </a:tcPr>
                </a:tc>
                <a:tc>
                  <a:txBody>
                    <a:bodyPr/>
                    <a:lstStyle/>
                    <a:p>
                      <a:pPr>
                        <a:defRPr sz="1600" b="1">
                          <a:solidFill>
                            <a:srgbClr val="20212A"/>
                          </a:solidFill>
                          <a:latin typeface="Arial"/>
                        </a:defRPr>
                      </a:pPr>
                      <a:r>
                        <a:t>Trọng số</a:t>
                      </a:r>
                    </a:p>
                  </a:txBody>
                  <a:tcPr marL="91440" marT="45720" marB="0">
                    <a:solidFill>
                      <a:srgbClr val="F2D8E8"/>
                    </a:solidFill>
                  </a:tcPr>
                </a:tc>
                <a:tc>
                  <a:txBody>
                    <a:bodyPr/>
                    <a:lstStyle/>
                    <a:p>
                      <a:pPr>
                        <a:defRPr sz="1600" b="1">
                          <a:solidFill>
                            <a:srgbClr val="20212A"/>
                          </a:solidFill>
                          <a:latin typeface="Arial"/>
                        </a:defRPr>
                      </a:pPr>
                      <a:r>
                        <a:t>Đóng góp</a:t>
                      </a:r>
                    </a:p>
                  </a:txBody>
                  <a:tcPr marL="91440" marT="45720" marB="0">
                    <a:solidFill>
                      <a:srgbClr val="F2D8E8"/>
                    </a:solidFill>
                  </a:tcPr>
                </a:tc>
              </a:tr>
              <a:tr h="411480">
                <a:tc>
                  <a:txBody>
                    <a:bodyPr/>
                    <a:lstStyle/>
                    <a:p>
                      <a:pPr>
                        <a:defRPr sz="1500" b="0">
                          <a:solidFill>
                            <a:srgbClr val="20212A"/>
                          </a:solidFill>
                          <a:latin typeface="Arial"/>
                        </a:defRPr>
                      </a:pPr>
                      <a:r>
                        <a:t>Vận tốc dọc</a:t>
                      </a:r>
                    </a:p>
                  </a:txBody>
                  <a:tcPr marL="91440" marT="45720" marB="0">
                    <a:solidFill>
                      <a:srgbClr val="FFFFFF"/>
                    </a:solidFill>
                  </a:tcPr>
                </a:tc>
                <a:tc>
                  <a:txBody>
                    <a:bodyPr/>
                    <a:lstStyle/>
                    <a:p>
                      <a:pPr>
                        <a:defRPr sz="1600" b="0">
                          <a:solidFill>
                            <a:srgbClr val="20212A"/>
                          </a:solidFill>
                          <a:latin typeface="Arial"/>
                        </a:defRPr>
                      </a:pPr>
                      <a:r>
                        <a:t>0.75</a:t>
                      </a:r>
                    </a:p>
                  </a:txBody>
                  <a:tcPr marL="91440" marT="45720" marB="0">
                    <a:solidFill>
                      <a:srgbClr val="FFFFFF"/>
                    </a:solidFill>
                  </a:tcPr>
                </a:tc>
                <a:tc>
                  <a:txBody>
                    <a:bodyPr/>
                    <a:lstStyle/>
                    <a:p>
                      <a:pPr>
                        <a:defRPr sz="1600" b="0">
                          <a:solidFill>
                            <a:srgbClr val="20212A"/>
                          </a:solidFill>
                          <a:latin typeface="Arial"/>
                        </a:defRPr>
                      </a:pPr>
                      <a:r>
                        <a:t>0.22</a:t>
                      </a:r>
                    </a:p>
                  </a:txBody>
                  <a:tcPr marL="91440" marT="45720" marB="0">
                    <a:solidFill>
                      <a:srgbClr val="FFFFFF"/>
                    </a:solidFill>
                  </a:tcPr>
                </a:tc>
                <a:tc>
                  <a:txBody>
                    <a:bodyPr/>
                    <a:lstStyle/>
                    <a:p>
                      <a:pPr>
                        <a:defRPr sz="1600" b="0">
                          <a:solidFill>
                            <a:srgbClr val="20212A"/>
                          </a:solidFill>
                          <a:latin typeface="Arial"/>
                        </a:defRPr>
                      </a:pPr>
                      <a:r>
                        <a:t>0.165</a:t>
                      </a:r>
                    </a:p>
                  </a:txBody>
                  <a:tcPr marL="91440" marT="45720" marB="0">
                    <a:solidFill>
                      <a:srgbClr val="FFFFFF"/>
                    </a:solidFill>
                  </a:tcPr>
                </a:tc>
              </a:tr>
              <a:tr h="411480">
                <a:tc>
                  <a:txBody>
                    <a:bodyPr/>
                    <a:lstStyle/>
                    <a:p>
                      <a:pPr>
                        <a:defRPr sz="1500" b="0">
                          <a:solidFill>
                            <a:srgbClr val="20212A"/>
                          </a:solidFill>
                          <a:latin typeface="Arial"/>
                        </a:defRPr>
                      </a:pPr>
                      <a:r>
                        <a:t>Góc thân</a:t>
                      </a:r>
                    </a:p>
                  </a:txBody>
                  <a:tcPr marL="91440" marT="45720" marB="0">
                    <a:solidFill>
                      <a:srgbClr val="FFFFFF"/>
                    </a:solidFill>
                  </a:tcPr>
                </a:tc>
                <a:tc>
                  <a:txBody>
                    <a:bodyPr/>
                    <a:lstStyle/>
                    <a:p>
                      <a:pPr>
                        <a:defRPr sz="1600" b="0">
                          <a:solidFill>
                            <a:srgbClr val="20212A"/>
                          </a:solidFill>
                          <a:latin typeface="Arial"/>
                        </a:defRPr>
                      </a:pPr>
                      <a:r>
                        <a:t>0.50</a:t>
                      </a:r>
                    </a:p>
                  </a:txBody>
                  <a:tcPr marL="91440" marT="45720" marB="0">
                    <a:solidFill>
                      <a:srgbClr val="FFFFFF"/>
                    </a:solidFill>
                  </a:tcPr>
                </a:tc>
                <a:tc>
                  <a:txBody>
                    <a:bodyPr/>
                    <a:lstStyle/>
                    <a:p>
                      <a:pPr>
                        <a:defRPr sz="1600" b="0">
                          <a:solidFill>
                            <a:srgbClr val="20212A"/>
                          </a:solidFill>
                          <a:latin typeface="Arial"/>
                        </a:defRPr>
                      </a:pPr>
                      <a:r>
                        <a:t>0.20</a:t>
                      </a:r>
                    </a:p>
                  </a:txBody>
                  <a:tcPr marL="91440" marT="45720" marB="0">
                    <a:solidFill>
                      <a:srgbClr val="FFFFFF"/>
                    </a:solidFill>
                  </a:tcPr>
                </a:tc>
                <a:tc>
                  <a:txBody>
                    <a:bodyPr/>
                    <a:lstStyle/>
                    <a:p>
                      <a:pPr>
                        <a:defRPr sz="1600" b="0">
                          <a:solidFill>
                            <a:srgbClr val="20212A"/>
                          </a:solidFill>
                          <a:latin typeface="Arial"/>
                        </a:defRPr>
                      </a:pPr>
                      <a:r>
                        <a:t>0.100</a:t>
                      </a:r>
                    </a:p>
                  </a:txBody>
                  <a:tcPr marL="91440" marT="45720" marB="0">
                    <a:solidFill>
                      <a:srgbClr val="FFFFFF"/>
                    </a:solidFill>
                  </a:tcPr>
                </a:tc>
              </a:tr>
              <a:tr h="411480">
                <a:tc>
                  <a:txBody>
                    <a:bodyPr/>
                    <a:lstStyle/>
                    <a:p>
                      <a:pPr>
                        <a:defRPr sz="1500" b="0">
                          <a:solidFill>
                            <a:srgbClr val="20212A"/>
                          </a:solidFill>
                          <a:latin typeface="Arial"/>
                        </a:defRPr>
                      </a:pPr>
                      <a:r>
                        <a:t>Giảm chiều cao</a:t>
                      </a:r>
                    </a:p>
                  </a:txBody>
                  <a:tcPr marL="91440" marT="45720" marB="0">
                    <a:solidFill>
                      <a:srgbClr val="FFFFFF"/>
                    </a:solidFill>
                  </a:tcPr>
                </a:tc>
                <a:tc>
                  <a:txBody>
                    <a:bodyPr/>
                    <a:lstStyle/>
                    <a:p>
                      <a:pPr>
                        <a:defRPr sz="1600" b="0">
                          <a:solidFill>
                            <a:srgbClr val="20212A"/>
                          </a:solidFill>
                          <a:latin typeface="Arial"/>
                        </a:defRPr>
                      </a:pPr>
                      <a:r>
                        <a:t>0.60</a:t>
                      </a:r>
                    </a:p>
                  </a:txBody>
                  <a:tcPr marL="91440" marT="45720" marB="0">
                    <a:solidFill>
                      <a:srgbClr val="FFFFFF"/>
                    </a:solidFill>
                  </a:tcPr>
                </a:tc>
                <a:tc>
                  <a:txBody>
                    <a:bodyPr/>
                    <a:lstStyle/>
                    <a:p>
                      <a:pPr>
                        <a:defRPr sz="1600" b="0">
                          <a:solidFill>
                            <a:srgbClr val="20212A"/>
                          </a:solidFill>
                          <a:latin typeface="Arial"/>
                        </a:defRPr>
                      </a:pPr>
                      <a:r>
                        <a:t>0.18</a:t>
                      </a:r>
                    </a:p>
                  </a:txBody>
                  <a:tcPr marL="91440" marT="45720" marB="0">
                    <a:solidFill>
                      <a:srgbClr val="FFFFFF"/>
                    </a:solidFill>
                  </a:tcPr>
                </a:tc>
                <a:tc>
                  <a:txBody>
                    <a:bodyPr/>
                    <a:lstStyle/>
                    <a:p>
                      <a:pPr>
                        <a:defRPr sz="1600" b="0">
                          <a:solidFill>
                            <a:srgbClr val="20212A"/>
                          </a:solidFill>
                          <a:latin typeface="Arial"/>
                        </a:defRPr>
                      </a:pPr>
                      <a:r>
                        <a:t>0.108</a:t>
                      </a:r>
                    </a:p>
                  </a:txBody>
                  <a:tcPr marL="91440" marT="45720" marB="0">
                    <a:solidFill>
                      <a:srgbClr val="FFFFFF"/>
                    </a:solidFill>
                  </a:tcPr>
                </a:tc>
              </a:tr>
              <a:tr h="411480">
                <a:tc>
                  <a:txBody>
                    <a:bodyPr/>
                    <a:lstStyle/>
                    <a:p>
                      <a:pPr>
                        <a:defRPr sz="1500" b="0">
                          <a:solidFill>
                            <a:srgbClr val="20212A"/>
                          </a:solidFill>
                          <a:latin typeface="Arial"/>
                        </a:defRPr>
                      </a:pPr>
                      <a:r>
                        <a:t>Đầu thấp hơn hông</a:t>
                      </a:r>
                    </a:p>
                  </a:txBody>
                  <a:tcPr marL="91440" marT="45720" marB="0">
                    <a:solidFill>
                      <a:srgbClr val="FFFFFF"/>
                    </a:solidFill>
                  </a:tcPr>
                </a:tc>
                <a:tc>
                  <a:txBody>
                    <a:bodyPr/>
                    <a:lstStyle/>
                    <a:p>
                      <a:pPr>
                        <a:defRPr sz="1600" b="0">
                          <a:solidFill>
                            <a:srgbClr val="20212A"/>
                          </a:solidFill>
                          <a:latin typeface="Arial"/>
                        </a:defRPr>
                      </a:pPr>
                      <a:r>
                        <a:t>0.00</a:t>
                      </a:r>
                    </a:p>
                  </a:txBody>
                  <a:tcPr marL="91440" marT="45720" marB="0">
                    <a:solidFill>
                      <a:srgbClr val="FFFFFF"/>
                    </a:solidFill>
                  </a:tcPr>
                </a:tc>
                <a:tc>
                  <a:txBody>
                    <a:bodyPr/>
                    <a:lstStyle/>
                    <a:p>
                      <a:pPr>
                        <a:defRPr sz="1600" b="0">
                          <a:solidFill>
                            <a:srgbClr val="20212A"/>
                          </a:solidFill>
                          <a:latin typeface="Arial"/>
                        </a:defRPr>
                      </a:pPr>
                      <a:r>
                        <a:t>0.12</a:t>
                      </a:r>
                    </a:p>
                  </a:txBody>
                  <a:tcPr marL="91440" marT="45720" marB="0">
                    <a:solidFill>
                      <a:srgbClr val="FFFFFF"/>
                    </a:solidFill>
                  </a:tcPr>
                </a:tc>
                <a:tc>
                  <a:txBody>
                    <a:bodyPr/>
                    <a:lstStyle/>
                    <a:p>
                      <a:pPr>
                        <a:defRPr sz="1600" b="0">
                          <a:solidFill>
                            <a:srgbClr val="20212A"/>
                          </a:solidFill>
                          <a:latin typeface="Arial"/>
                        </a:defRPr>
                      </a:pPr>
                      <a:r>
                        <a:t>0.000</a:t>
                      </a:r>
                    </a:p>
                  </a:txBody>
                  <a:tcPr marL="91440" marT="45720" marB="0">
                    <a:solidFill>
                      <a:srgbClr val="FFFFFF"/>
                    </a:solidFill>
                  </a:tcPr>
                </a:tc>
              </a:tr>
              <a:tr h="411480">
                <a:tc>
                  <a:txBody>
                    <a:bodyPr/>
                    <a:lstStyle/>
                    <a:p>
                      <a:pPr>
                        <a:defRPr sz="1500" b="0">
                          <a:solidFill>
                            <a:srgbClr val="20212A"/>
                          </a:solidFill>
                          <a:latin typeface="Arial"/>
                        </a:defRPr>
                      </a:pPr>
                      <a:r>
                        <a:t>Tư thế ngang</a:t>
                      </a:r>
                    </a:p>
                  </a:txBody>
                  <a:tcPr marL="91440" marT="45720" marB="0">
                    <a:solidFill>
                      <a:srgbClr val="FFFFFF"/>
                    </a:solidFill>
                  </a:tcPr>
                </a:tc>
                <a:tc>
                  <a:txBody>
                    <a:bodyPr/>
                    <a:lstStyle/>
                    <a:p>
                      <a:pPr>
                        <a:defRPr sz="1600" b="0">
                          <a:solidFill>
                            <a:srgbClr val="20212A"/>
                          </a:solidFill>
                          <a:latin typeface="Arial"/>
                        </a:defRPr>
                      </a:pPr>
                      <a:r>
                        <a:t>0.50</a:t>
                      </a:r>
                    </a:p>
                  </a:txBody>
                  <a:tcPr marL="91440" marT="45720" marB="0">
                    <a:solidFill>
                      <a:srgbClr val="FFFFFF"/>
                    </a:solidFill>
                  </a:tcPr>
                </a:tc>
                <a:tc>
                  <a:txBody>
                    <a:bodyPr/>
                    <a:lstStyle/>
                    <a:p>
                      <a:pPr>
                        <a:defRPr sz="1600" b="0">
                          <a:solidFill>
                            <a:srgbClr val="20212A"/>
                          </a:solidFill>
                          <a:latin typeface="Arial"/>
                        </a:defRPr>
                      </a:pPr>
                      <a:r>
                        <a:t>0.12</a:t>
                      </a:r>
                    </a:p>
                  </a:txBody>
                  <a:tcPr marL="91440" marT="45720" marB="0">
                    <a:solidFill>
                      <a:srgbClr val="FFFFFF"/>
                    </a:solidFill>
                  </a:tcPr>
                </a:tc>
                <a:tc>
                  <a:txBody>
                    <a:bodyPr/>
                    <a:lstStyle/>
                    <a:p>
                      <a:pPr>
                        <a:defRPr sz="1600" b="0">
                          <a:solidFill>
                            <a:srgbClr val="20212A"/>
                          </a:solidFill>
                          <a:latin typeface="Arial"/>
                        </a:defRPr>
                      </a:pPr>
                      <a:r>
                        <a:t>0.060</a:t>
                      </a:r>
                    </a:p>
                  </a:txBody>
                  <a:tcPr marL="91440" marT="45720" marB="0">
                    <a:solidFill>
                      <a:srgbClr val="FFFFFF"/>
                    </a:solidFill>
                  </a:tcPr>
                </a:tc>
              </a:tr>
              <a:tr h="411480">
                <a:tc>
                  <a:txBody>
                    <a:bodyPr/>
                    <a:lstStyle/>
                    <a:p>
                      <a:pPr>
                        <a:defRPr sz="1500" b="0">
                          <a:solidFill>
                            <a:srgbClr val="20212A"/>
                          </a:solidFill>
                          <a:latin typeface="Arial"/>
                        </a:defRPr>
                      </a:pPr>
                      <a:r>
                        <a:t>Vận tốc dọc duy trì</a:t>
                      </a:r>
                    </a:p>
                  </a:txBody>
                  <a:tcPr marL="91440" marT="45720" marB="0">
                    <a:solidFill>
                      <a:srgbClr val="FFFFFF"/>
                    </a:solidFill>
                  </a:tcPr>
                </a:tc>
                <a:tc>
                  <a:txBody>
                    <a:bodyPr/>
                    <a:lstStyle/>
                    <a:p>
                      <a:pPr>
                        <a:defRPr sz="1600" b="0">
                          <a:solidFill>
                            <a:srgbClr val="20212A"/>
                          </a:solidFill>
                          <a:latin typeface="Arial"/>
                        </a:defRPr>
                      </a:pPr>
                      <a:r>
                        <a:t>0.60</a:t>
                      </a:r>
                    </a:p>
                  </a:txBody>
                  <a:tcPr marL="91440" marT="45720" marB="0">
                    <a:solidFill>
                      <a:srgbClr val="FFFFFF"/>
                    </a:solidFill>
                  </a:tcPr>
                </a:tc>
                <a:tc>
                  <a:txBody>
                    <a:bodyPr/>
                    <a:lstStyle/>
                    <a:p>
                      <a:pPr>
                        <a:defRPr sz="1600" b="0">
                          <a:solidFill>
                            <a:srgbClr val="20212A"/>
                          </a:solidFill>
                          <a:latin typeface="Arial"/>
                        </a:defRPr>
                      </a:pPr>
                      <a:r>
                        <a:t>0.08</a:t>
                      </a:r>
                    </a:p>
                  </a:txBody>
                  <a:tcPr marL="91440" marT="45720" marB="0">
                    <a:solidFill>
                      <a:srgbClr val="FFFFFF"/>
                    </a:solidFill>
                  </a:tcPr>
                </a:tc>
                <a:tc>
                  <a:txBody>
                    <a:bodyPr/>
                    <a:lstStyle/>
                    <a:p>
                      <a:pPr>
                        <a:defRPr sz="1600" b="0">
                          <a:solidFill>
                            <a:srgbClr val="20212A"/>
                          </a:solidFill>
                          <a:latin typeface="Arial"/>
                        </a:defRPr>
                      </a:pPr>
                      <a:r>
                        <a:t>0.048</a:t>
                      </a:r>
                    </a:p>
                  </a:txBody>
                  <a:tcPr marL="91440" marT="45720" marB="0">
                    <a:solidFill>
                      <a:srgbClr val="FFFFFF"/>
                    </a:solidFill>
                  </a:tcPr>
                </a:tc>
              </a:tr>
              <a:tr h="411480">
                <a:tc>
                  <a:txBody>
                    <a:bodyPr/>
                    <a:lstStyle/>
                    <a:p>
                      <a:pPr>
                        <a:defRPr sz="1500" b="0">
                          <a:solidFill>
                            <a:srgbClr val="20212A"/>
                          </a:solidFill>
                          <a:latin typeface="Arial"/>
                        </a:defRPr>
                      </a:pPr>
                      <a:r>
                        <a:t>Điểm mốc gần đáy ảnh</a:t>
                      </a:r>
                    </a:p>
                  </a:txBody>
                  <a:tcPr marL="91440" marT="45720" marB="0">
                    <a:solidFill>
                      <a:srgbClr val="FFFFFF"/>
                    </a:solidFill>
                  </a:tcPr>
                </a:tc>
                <a:tc>
                  <a:txBody>
                    <a:bodyPr/>
                    <a:lstStyle/>
                    <a:p>
                      <a:pPr>
                        <a:defRPr sz="1600" b="0">
                          <a:solidFill>
                            <a:srgbClr val="20212A"/>
                          </a:solidFill>
                          <a:latin typeface="Arial"/>
                        </a:defRPr>
                      </a:pPr>
                      <a:r>
                        <a:t>0.50</a:t>
                      </a:r>
                    </a:p>
                  </a:txBody>
                  <a:tcPr marL="91440" marT="45720" marB="0">
                    <a:solidFill>
                      <a:srgbClr val="FFFFFF"/>
                    </a:solidFill>
                  </a:tcPr>
                </a:tc>
                <a:tc>
                  <a:txBody>
                    <a:bodyPr/>
                    <a:lstStyle/>
                    <a:p>
                      <a:pPr>
                        <a:defRPr sz="1600" b="0">
                          <a:solidFill>
                            <a:srgbClr val="20212A"/>
                          </a:solidFill>
                          <a:latin typeface="Arial"/>
                        </a:defRPr>
                      </a:pPr>
                      <a:r>
                        <a:t>0.08</a:t>
                      </a:r>
                    </a:p>
                  </a:txBody>
                  <a:tcPr marL="91440" marT="45720" marB="0">
                    <a:solidFill>
                      <a:srgbClr val="FFFFFF"/>
                    </a:solidFill>
                  </a:tcPr>
                </a:tc>
                <a:tc>
                  <a:txBody>
                    <a:bodyPr/>
                    <a:lstStyle/>
                    <a:p>
                      <a:pPr>
                        <a:defRPr sz="1600" b="0">
                          <a:solidFill>
                            <a:srgbClr val="20212A"/>
                          </a:solidFill>
                          <a:latin typeface="Arial"/>
                        </a:defRPr>
                      </a:pPr>
                      <a:r>
                        <a:t>0.040</a:t>
                      </a:r>
                    </a:p>
                  </a:txBody>
                  <a:tcPr marL="91440" marT="45720" marB="0">
                    <a:solidFill>
                      <a:srgbClr val="FFFFFF"/>
                    </a:solidFill>
                  </a:tcPr>
                </a:tc>
              </a:tr>
            </a:tbl>
          </a:graphicData>
        </a:graphic>
      </p:graphicFrame>
      <p:sp>
        <p:nvSpPr>
          <p:cNvPr id="11" name="TextBox 10"/>
          <p:cNvSpPr txBox="1"/>
          <p:nvPr/>
        </p:nvSpPr>
        <p:spPr>
          <a:xfrm>
            <a:off x="9208008" y="2788920"/>
            <a:ext cx="2514600" cy="914400"/>
          </a:xfrm>
          <a:prstGeom prst="rect">
            <a:avLst/>
          </a:prstGeom>
          <a:noFill/>
        </p:spPr>
        <p:txBody>
          <a:bodyPr wrap="square" lIns="0" rIns="0" tIns="25400" bIns="0">
            <a:spAutoFit/>
          </a:bodyPr>
          <a:lstStyle/>
          <a:p>
            <a:pPr>
              <a:spcAft>
                <a:spcPts val="600"/>
              </a:spcAft>
              <a:defRPr sz="4200" b="1">
                <a:solidFill>
                  <a:srgbClr val="C44C99"/>
                </a:solidFill>
                <a:latin typeface="Arial"/>
              </a:defRPr>
            </a:pPr>
            <a:r>
              <a:t>0,521</a:t>
            </a:r>
          </a:p>
        </p:txBody>
      </p:sp>
      <p:sp>
        <p:nvSpPr>
          <p:cNvPr id="12" name="TextBox 11"/>
          <p:cNvSpPr txBox="1"/>
          <p:nvPr/>
        </p:nvSpPr>
        <p:spPr>
          <a:xfrm>
            <a:off x="9208008" y="3858768"/>
            <a:ext cx="2377440" cy="1097280"/>
          </a:xfrm>
          <a:prstGeom prst="rect">
            <a:avLst/>
          </a:prstGeom>
          <a:noFill/>
        </p:spPr>
        <p:txBody>
          <a:bodyPr wrap="square" lIns="0" rIns="0" tIns="25400" bIns="0">
            <a:spAutoFit/>
          </a:bodyPr>
          <a:lstStyle/>
          <a:p>
            <a:pPr>
              <a:spcAft>
                <a:spcPts val="600"/>
              </a:spcAft>
              <a:defRPr sz="1700" b="0">
                <a:solidFill>
                  <a:srgbClr val="655D6C"/>
                </a:solidFill>
                <a:latin typeface="Arial"/>
              </a:defRPr>
            </a:pPr>
            <a:r>
              <a:t>Giả sử mROI = 1</a:t>
            </a:r>
          </a:p>
          <a:p>
            <a:pPr>
              <a:spcAft>
                <a:spcPts val="600"/>
              </a:spcAft>
              <a:defRPr sz="1700" b="0">
                <a:solidFill>
                  <a:srgbClr val="655D6C"/>
                </a:solidFill>
                <a:latin typeface="Arial"/>
              </a:defRPr>
            </a:pPr>
            <a:r>
              <a:t>Chưa dùng model hỗ trợ</a:t>
            </a:r>
          </a:p>
        </p:txBody>
      </p:sp>
      <p:sp>
        <p:nvSpPr>
          <p:cNvPr id="13" name="TextBox 12"/>
          <p:cNvSpPr txBox="1"/>
          <p:nvPr/>
        </p:nvSpPr>
        <p:spPr>
          <a:xfrm>
            <a:off x="594360" y="5733288"/>
            <a:ext cx="10789920" cy="365760"/>
          </a:xfrm>
          <a:prstGeom prst="rect">
            <a:avLst/>
          </a:prstGeom>
          <a:noFill/>
        </p:spPr>
        <p:txBody>
          <a:bodyPr wrap="square" lIns="0" rIns="0" tIns="25400" bIns="0">
            <a:spAutoFit/>
          </a:bodyPr>
          <a:lstStyle/>
          <a:p>
            <a:pPr>
              <a:spcAft>
                <a:spcPts val="600"/>
              </a:spcAft>
              <a:defRPr sz="1600" b="1">
                <a:solidFill>
                  <a:srgbClr val="20212A"/>
                </a:solidFill>
                <a:latin typeface="Arial"/>
              </a:defRPr>
            </a:pPr>
            <a:r>
              <a:t>Không quy đổi thành độ chính xác 52,1%. Còn xét điều kiện hình học và thời gian.</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12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Một điểm số chưa đủ xác nhận ngã</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Tài liệu góp ý 13–14 · Điều kiện rút gọn, chưa xác minh source</a:t>
            </a:r>
          </a:p>
        </p:txBody>
      </p:sp>
      <p:sp>
        <p:nvSpPr>
          <p:cNvPr id="8" name="Rounded Rectangle 7"/>
          <p:cNvSpPr/>
          <p:nvPr/>
        </p:nvSpPr>
        <p:spPr>
          <a:xfrm>
            <a:off x="594360" y="2286000"/>
            <a:ext cx="2496312" cy="804672"/>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85800" y="2523744"/>
            <a:ext cx="2313432" cy="384048"/>
          </a:xfrm>
          <a:prstGeom prst="rect">
            <a:avLst/>
          </a:prstGeom>
          <a:noFill/>
        </p:spPr>
        <p:txBody>
          <a:bodyPr wrap="square" lIns="0" rIns="0" tIns="25400" bIns="0">
            <a:spAutoFit/>
          </a:bodyPr>
          <a:lstStyle/>
          <a:p>
            <a:pPr algn="ctr">
              <a:spcAft>
                <a:spcPts val="600"/>
              </a:spcAft>
              <a:defRPr sz="2000" b="1">
                <a:solidFill>
                  <a:srgbClr val="20212A"/>
                </a:solidFill>
                <a:latin typeface="Arial"/>
              </a:defRPr>
            </a:pPr>
            <a:r>
              <a:t>STANDING</a:t>
            </a:r>
          </a:p>
        </p:txBody>
      </p:sp>
      <p:sp>
        <p:nvSpPr>
          <p:cNvPr id="10" name="TextBox 9"/>
          <p:cNvSpPr txBox="1"/>
          <p:nvPr/>
        </p:nvSpPr>
        <p:spPr>
          <a:xfrm>
            <a:off x="3136391" y="2414016"/>
            <a:ext cx="320040" cy="502920"/>
          </a:xfrm>
          <a:prstGeom prst="rect">
            <a:avLst/>
          </a:prstGeom>
          <a:noFill/>
        </p:spPr>
        <p:txBody>
          <a:bodyPr wrap="square" lIns="0" rIns="0" tIns="25400" bIns="0">
            <a:spAutoFit/>
          </a:bodyPr>
          <a:lstStyle/>
          <a:p>
            <a:pPr>
              <a:spcAft>
                <a:spcPts val="600"/>
              </a:spcAft>
              <a:defRPr sz="2700" b="1">
                <a:solidFill>
                  <a:srgbClr val="C44C99"/>
                </a:solidFill>
                <a:latin typeface="Arial"/>
              </a:defRPr>
            </a:pPr>
            <a:r>
              <a:t>→</a:t>
            </a:r>
          </a:p>
        </p:txBody>
      </p:sp>
      <p:sp>
        <p:nvSpPr>
          <p:cNvPr id="11" name="Rounded Rectangle 10"/>
          <p:cNvSpPr/>
          <p:nvPr/>
        </p:nvSpPr>
        <p:spPr>
          <a:xfrm>
            <a:off x="3447288" y="2286000"/>
            <a:ext cx="2496312" cy="804672"/>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538728" y="2523744"/>
            <a:ext cx="2313432" cy="384048"/>
          </a:xfrm>
          <a:prstGeom prst="rect">
            <a:avLst/>
          </a:prstGeom>
          <a:noFill/>
        </p:spPr>
        <p:txBody>
          <a:bodyPr wrap="square" lIns="0" rIns="0" tIns="25400" bIns="0">
            <a:spAutoFit/>
          </a:bodyPr>
          <a:lstStyle/>
          <a:p>
            <a:pPr algn="ctr">
              <a:spcAft>
                <a:spcPts val="600"/>
              </a:spcAft>
              <a:defRPr sz="2000" b="1">
                <a:solidFill>
                  <a:srgbClr val="20212A"/>
                </a:solidFill>
                <a:latin typeface="Arial"/>
              </a:defRPr>
            </a:pPr>
            <a:r>
              <a:t>PRE_FALL</a:t>
            </a:r>
          </a:p>
        </p:txBody>
      </p:sp>
      <p:sp>
        <p:nvSpPr>
          <p:cNvPr id="13" name="TextBox 12"/>
          <p:cNvSpPr txBox="1"/>
          <p:nvPr/>
        </p:nvSpPr>
        <p:spPr>
          <a:xfrm>
            <a:off x="5989320" y="2414016"/>
            <a:ext cx="320040" cy="502920"/>
          </a:xfrm>
          <a:prstGeom prst="rect">
            <a:avLst/>
          </a:prstGeom>
          <a:noFill/>
        </p:spPr>
        <p:txBody>
          <a:bodyPr wrap="square" lIns="0" rIns="0" tIns="25400" bIns="0">
            <a:spAutoFit/>
          </a:bodyPr>
          <a:lstStyle/>
          <a:p>
            <a:pPr>
              <a:spcAft>
                <a:spcPts val="600"/>
              </a:spcAft>
              <a:defRPr sz="2700" b="1">
                <a:solidFill>
                  <a:srgbClr val="C44C99"/>
                </a:solidFill>
                <a:latin typeface="Arial"/>
              </a:defRPr>
            </a:pPr>
            <a:r>
              <a:t>→</a:t>
            </a:r>
          </a:p>
        </p:txBody>
      </p:sp>
      <p:sp>
        <p:nvSpPr>
          <p:cNvPr id="14" name="Rounded Rectangle 13"/>
          <p:cNvSpPr/>
          <p:nvPr/>
        </p:nvSpPr>
        <p:spPr>
          <a:xfrm>
            <a:off x="6300216" y="2286000"/>
            <a:ext cx="2496312" cy="804672"/>
          </a:xfrm>
          <a:prstGeom prst="roundRect">
            <a:avLst>
              <a:gd name="adj" fmla="val 12000"/>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391656" y="2523744"/>
            <a:ext cx="2313432" cy="384048"/>
          </a:xfrm>
          <a:prstGeom prst="rect">
            <a:avLst/>
          </a:prstGeom>
          <a:noFill/>
        </p:spPr>
        <p:txBody>
          <a:bodyPr wrap="square" lIns="0" rIns="0" tIns="25400" bIns="0">
            <a:spAutoFit/>
          </a:bodyPr>
          <a:lstStyle/>
          <a:p>
            <a:pPr algn="ctr">
              <a:spcAft>
                <a:spcPts val="600"/>
              </a:spcAft>
              <a:defRPr sz="2000" b="1">
                <a:solidFill>
                  <a:srgbClr val="C44C99"/>
                </a:solidFill>
                <a:latin typeface="Arial"/>
              </a:defRPr>
            </a:pPr>
            <a:r>
              <a:t>FALLEN</a:t>
            </a:r>
          </a:p>
        </p:txBody>
      </p:sp>
      <p:sp>
        <p:nvSpPr>
          <p:cNvPr id="16" name="TextBox 15"/>
          <p:cNvSpPr txBox="1"/>
          <p:nvPr/>
        </p:nvSpPr>
        <p:spPr>
          <a:xfrm>
            <a:off x="8842248" y="2414016"/>
            <a:ext cx="320040" cy="502920"/>
          </a:xfrm>
          <a:prstGeom prst="rect">
            <a:avLst/>
          </a:prstGeom>
          <a:noFill/>
        </p:spPr>
        <p:txBody>
          <a:bodyPr wrap="square" lIns="0" rIns="0" tIns="25400" bIns="0">
            <a:spAutoFit/>
          </a:bodyPr>
          <a:lstStyle/>
          <a:p>
            <a:pPr>
              <a:spcAft>
                <a:spcPts val="600"/>
              </a:spcAft>
              <a:defRPr sz="2700" b="1">
                <a:solidFill>
                  <a:srgbClr val="C44C99"/>
                </a:solidFill>
                <a:latin typeface="Arial"/>
              </a:defRPr>
            </a:pPr>
            <a:r>
              <a:t>→</a:t>
            </a:r>
          </a:p>
        </p:txBody>
      </p:sp>
      <p:sp>
        <p:nvSpPr>
          <p:cNvPr id="17" name="Rounded Rectangle 16"/>
          <p:cNvSpPr/>
          <p:nvPr/>
        </p:nvSpPr>
        <p:spPr>
          <a:xfrm>
            <a:off x="9153144" y="2286000"/>
            <a:ext cx="2496312" cy="804672"/>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244584" y="2523744"/>
            <a:ext cx="2313432" cy="384048"/>
          </a:xfrm>
          <a:prstGeom prst="rect">
            <a:avLst/>
          </a:prstGeom>
          <a:noFill/>
        </p:spPr>
        <p:txBody>
          <a:bodyPr wrap="square" lIns="0" rIns="0" tIns="25400" bIns="0">
            <a:spAutoFit/>
          </a:bodyPr>
          <a:lstStyle/>
          <a:p>
            <a:pPr algn="ctr">
              <a:spcAft>
                <a:spcPts val="600"/>
              </a:spcAft>
              <a:defRPr sz="2000" b="1">
                <a:solidFill>
                  <a:srgbClr val="20212A"/>
                </a:solidFill>
                <a:latin typeface="Arial"/>
              </a:defRPr>
            </a:pPr>
            <a:r>
              <a:t>ALERT</a:t>
            </a:r>
          </a:p>
        </p:txBody>
      </p:sp>
      <p:sp>
        <p:nvSpPr>
          <p:cNvPr id="19" name="Left Arrow 18"/>
          <p:cNvSpPr/>
          <p:nvPr/>
        </p:nvSpPr>
        <p:spPr>
          <a:xfrm>
            <a:off x="685800" y="3182112"/>
            <a:ext cx="10561320" cy="118872"/>
          </a:xfrm>
          <a:prstGeom prst="leftArrow">
            <a:avLst/>
          </a:prstGeom>
          <a:solidFill>
            <a:srgbClr val="4F8D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069080" y="3072384"/>
            <a:ext cx="4114800" cy="347472"/>
          </a:xfrm>
          <a:prstGeom prst="roundRect">
            <a:avLst>
              <a:gd name="adj" fmla="val 12000"/>
            </a:avLst>
          </a:prstGeom>
          <a:solidFill>
            <a:srgbClr val="FCF9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187952" y="3099815"/>
            <a:ext cx="3877056" cy="292608"/>
          </a:xfrm>
          <a:prstGeom prst="rect">
            <a:avLst/>
          </a:prstGeom>
          <a:noFill/>
        </p:spPr>
        <p:txBody>
          <a:bodyPr wrap="square" lIns="0" rIns="0" tIns="25400" bIns="0">
            <a:spAutoFit/>
          </a:bodyPr>
          <a:lstStyle/>
          <a:p>
            <a:pPr>
              <a:spcAft>
                <a:spcPts val="600"/>
              </a:spcAft>
              <a:defRPr sz="1100" b="1">
                <a:solidFill>
                  <a:srgbClr val="C44C99"/>
                </a:solidFill>
                <a:latin typeface="Arial"/>
              </a:defRPr>
            </a:pPr>
            <a:r>
              <a:t>Phục hồi / Tôi ổn — theo điều kiện</a:t>
            </a:r>
          </a:p>
        </p:txBody>
      </p:sp>
      <p:sp>
        <p:nvSpPr>
          <p:cNvPr id="22" name="Rounded Rectangle 21"/>
          <p:cNvSpPr/>
          <p:nvPr/>
        </p:nvSpPr>
        <p:spPr>
          <a:xfrm>
            <a:off x="594360" y="3520440"/>
            <a:ext cx="3566160" cy="157276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77240" y="3657600"/>
            <a:ext cx="3200400" cy="365760"/>
          </a:xfrm>
          <a:prstGeom prst="rect">
            <a:avLst/>
          </a:prstGeom>
          <a:noFill/>
        </p:spPr>
        <p:txBody>
          <a:bodyPr wrap="square" lIns="0" rIns="0" tIns="25400" bIns="0">
            <a:spAutoFit/>
          </a:bodyPr>
          <a:lstStyle/>
          <a:p>
            <a:pPr>
              <a:spcAft>
                <a:spcPts val="600"/>
              </a:spcAft>
              <a:defRPr sz="1900" b="1">
                <a:solidFill>
                  <a:srgbClr val="C44C99"/>
                </a:solidFill>
                <a:latin typeface="Arial"/>
              </a:defRPr>
            </a:pPr>
            <a:r>
              <a:t>Nghi ngờ</a:t>
            </a:r>
          </a:p>
        </p:txBody>
      </p:sp>
      <p:sp>
        <p:nvSpPr>
          <p:cNvPr id="24" name="TextBox 23"/>
          <p:cNvSpPr txBox="1"/>
          <p:nvPr/>
        </p:nvSpPr>
        <p:spPr>
          <a:xfrm>
            <a:off x="777240" y="4096512"/>
            <a:ext cx="3200400" cy="868680"/>
          </a:xfrm>
          <a:prstGeom prst="rect">
            <a:avLst/>
          </a:prstGeom>
          <a:noFill/>
        </p:spPr>
        <p:txBody>
          <a:bodyPr wrap="square" lIns="0" rIns="0" tIns="25400" bIns="0">
            <a:spAutoFit/>
          </a:bodyPr>
          <a:lstStyle/>
          <a:p>
            <a:pPr>
              <a:spcAft>
                <a:spcPts val="600"/>
              </a:spcAft>
              <a:defRPr sz="1500" b="0">
                <a:solidFill>
                  <a:srgbClr val="655D6C"/>
                </a:solidFill>
                <a:latin typeface="Arial"/>
              </a:defRPr>
            </a:pPr>
            <a:r>
              <a:t>Hạ nhanh + thân nghiêng,</a:t>
            </a:r>
          </a:p>
          <a:p>
            <a:pPr>
              <a:spcAft>
                <a:spcPts val="600"/>
              </a:spcAft>
              <a:defRPr sz="1500" b="0">
                <a:solidFill>
                  <a:srgbClr val="655D6C"/>
                </a:solidFill>
                <a:latin typeface="Arial"/>
              </a:defRPr>
            </a:pPr>
            <a:r>
              <a:t>hoặc điểm ≥ 0,45</a:t>
            </a:r>
          </a:p>
          <a:p>
            <a:pPr>
              <a:spcAft>
                <a:spcPts val="600"/>
              </a:spcAft>
              <a:defRPr sz="1500" b="0">
                <a:solidFill>
                  <a:srgbClr val="655D6C"/>
                </a:solidFill>
                <a:latin typeface="Arial"/>
              </a:defRPr>
            </a:pPr>
            <a:r>
              <a:t>tích lũy đủ bước.</a:t>
            </a:r>
          </a:p>
        </p:txBody>
      </p:sp>
      <p:sp>
        <p:nvSpPr>
          <p:cNvPr id="25" name="Rounded Rectangle 24"/>
          <p:cNvSpPr/>
          <p:nvPr/>
        </p:nvSpPr>
        <p:spPr>
          <a:xfrm>
            <a:off x="4389120" y="3520440"/>
            <a:ext cx="3566160" cy="157276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0" y="3657600"/>
            <a:ext cx="3200400" cy="365760"/>
          </a:xfrm>
          <a:prstGeom prst="rect">
            <a:avLst/>
          </a:prstGeom>
          <a:noFill/>
        </p:spPr>
        <p:txBody>
          <a:bodyPr wrap="square" lIns="0" rIns="0" tIns="25400" bIns="0">
            <a:spAutoFit/>
          </a:bodyPr>
          <a:lstStyle/>
          <a:p>
            <a:pPr>
              <a:spcAft>
                <a:spcPts val="600"/>
              </a:spcAft>
              <a:defRPr sz="1900" b="1">
                <a:solidFill>
                  <a:srgbClr val="C44C99"/>
                </a:solidFill>
                <a:latin typeface="Arial"/>
              </a:defRPr>
            </a:pPr>
            <a:r>
              <a:t>Xác nhận</a:t>
            </a:r>
          </a:p>
        </p:txBody>
      </p:sp>
      <p:sp>
        <p:nvSpPr>
          <p:cNvPr id="27" name="TextBox 26"/>
          <p:cNvSpPr txBox="1"/>
          <p:nvPr/>
        </p:nvSpPr>
        <p:spPr>
          <a:xfrm>
            <a:off x="4572000" y="4096512"/>
            <a:ext cx="3200400" cy="868680"/>
          </a:xfrm>
          <a:prstGeom prst="rect">
            <a:avLst/>
          </a:prstGeom>
          <a:noFill/>
        </p:spPr>
        <p:txBody>
          <a:bodyPr wrap="square" lIns="0" rIns="0" tIns="25400" bIns="0">
            <a:spAutoFit/>
          </a:bodyPr>
          <a:lstStyle/>
          <a:p>
            <a:pPr>
              <a:spcAft>
                <a:spcPts val="600"/>
              </a:spcAft>
              <a:defRPr sz="1500" b="0">
                <a:solidFill>
                  <a:srgbClr val="655D6C"/>
                </a:solidFill>
                <a:latin typeface="Arial"/>
              </a:defRPr>
            </a:pPr>
            <a:r>
              <a:t>Dấu hiệu ngang tích lũy,</a:t>
            </a:r>
          </a:p>
          <a:p>
            <a:pPr>
              <a:spcAft>
                <a:spcPts val="600"/>
              </a:spcAft>
              <a:defRPr sz="1500" b="0">
                <a:solidFill>
                  <a:srgbClr val="655D6C"/>
                </a:solidFill>
                <a:latin typeface="Arial"/>
              </a:defRPr>
            </a:pPr>
            <a:r>
              <a:t>hoặc điểm ≥ 0,68 + góc &gt;60°,</a:t>
            </a:r>
          </a:p>
          <a:p>
            <a:pPr>
              <a:spcAft>
                <a:spcPts val="600"/>
              </a:spcAft>
              <a:defRPr sz="1500" b="0">
                <a:solidFill>
                  <a:srgbClr val="655D6C"/>
                </a:solidFill>
                <a:latin typeface="Arial"/>
              </a:defRPr>
            </a:pPr>
            <a:r>
              <a:t>hoặc giảm cao nhanh + gần đáy.</a:t>
            </a:r>
          </a:p>
        </p:txBody>
      </p:sp>
      <p:sp>
        <p:nvSpPr>
          <p:cNvPr id="28" name="Rounded Rectangle 27"/>
          <p:cNvSpPr/>
          <p:nvPr/>
        </p:nvSpPr>
        <p:spPr>
          <a:xfrm>
            <a:off x="8183880" y="3520440"/>
            <a:ext cx="3566160" cy="157276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366760" y="3657600"/>
            <a:ext cx="3200400" cy="365760"/>
          </a:xfrm>
          <a:prstGeom prst="rect">
            <a:avLst/>
          </a:prstGeom>
          <a:noFill/>
        </p:spPr>
        <p:txBody>
          <a:bodyPr wrap="square" lIns="0" rIns="0" tIns="25400" bIns="0">
            <a:spAutoFit/>
          </a:bodyPr>
          <a:lstStyle/>
          <a:p>
            <a:pPr>
              <a:spcAft>
                <a:spcPts val="600"/>
              </a:spcAft>
              <a:defRPr sz="1900" b="1">
                <a:solidFill>
                  <a:srgbClr val="C44C99"/>
                </a:solidFill>
                <a:latin typeface="Arial"/>
              </a:defRPr>
            </a:pPr>
            <a:r>
              <a:t>Leo thang</a:t>
            </a:r>
          </a:p>
        </p:txBody>
      </p:sp>
      <p:sp>
        <p:nvSpPr>
          <p:cNvPr id="30" name="TextBox 29"/>
          <p:cNvSpPr txBox="1"/>
          <p:nvPr/>
        </p:nvSpPr>
        <p:spPr>
          <a:xfrm>
            <a:off x="8366760" y="4096512"/>
            <a:ext cx="3200400" cy="868680"/>
          </a:xfrm>
          <a:prstGeom prst="rect">
            <a:avLst/>
          </a:prstGeom>
          <a:noFill/>
        </p:spPr>
        <p:txBody>
          <a:bodyPr wrap="square" lIns="0" rIns="0" tIns="25400" bIns="0">
            <a:spAutoFit/>
          </a:bodyPr>
          <a:lstStyle/>
          <a:p>
            <a:pPr>
              <a:spcAft>
                <a:spcPts val="600"/>
              </a:spcAft>
              <a:defRPr sz="1500" b="0">
                <a:solidFill>
                  <a:srgbClr val="655D6C"/>
                </a:solidFill>
                <a:latin typeface="Arial"/>
              </a:defRPr>
            </a:pPr>
            <a:r>
              <a:t>Bất động tích lũy</a:t>
            </a:r>
          </a:p>
          <a:p>
            <a:pPr>
              <a:spcAft>
                <a:spcPts val="600"/>
              </a:spcAft>
              <a:defRPr sz="1500" b="0">
                <a:solidFill>
                  <a:srgbClr val="655D6C"/>
                </a:solidFill>
                <a:latin typeface="Arial"/>
              </a:defRPr>
            </a:pPr>
            <a:r>
              <a:t>đạt ngưỡng cấu hình,</a:t>
            </a:r>
          </a:p>
          <a:p>
            <a:pPr>
              <a:spcAft>
                <a:spcPts val="600"/>
              </a:spcAft>
              <a:defRPr sz="1500" b="0">
                <a:solidFill>
                  <a:srgbClr val="655D6C"/>
                </a:solidFill>
                <a:latin typeface="Arial"/>
              </a:defRPr>
            </a:pPr>
            <a:r>
              <a:t>mặc định 15 giây.</a:t>
            </a:r>
          </a:p>
        </p:txBody>
      </p:sp>
      <p:sp>
        <p:nvSpPr>
          <p:cNvPr id="31" name="TextBox 30"/>
          <p:cNvSpPr txBox="1"/>
          <p:nvPr/>
        </p:nvSpPr>
        <p:spPr>
          <a:xfrm>
            <a:off x="603504" y="1773936"/>
            <a:ext cx="10835640" cy="384048"/>
          </a:xfrm>
          <a:prstGeom prst="rect">
            <a:avLst/>
          </a:prstGeom>
          <a:noFill/>
        </p:spPr>
        <p:txBody>
          <a:bodyPr wrap="square" lIns="0" rIns="0" tIns="25400" bIns="0">
            <a:spAutoFit/>
          </a:bodyPr>
          <a:lstStyle/>
          <a:p>
            <a:pPr>
              <a:spcAft>
                <a:spcPts val="600"/>
              </a:spcAft>
              <a:defRPr sz="1700" b="1">
                <a:solidFill>
                  <a:srgbClr val="20212A"/>
                </a:solidFill>
                <a:latin typeface="Arial"/>
              </a:defRPr>
            </a:pPr>
            <a:r>
              <a:t>NO_PERSON / PARTIAL_POSE: chất lượng đầu vào · Bộ đếm bước khác thời gian giây.</a:t>
            </a:r>
          </a:p>
        </p:txBody>
      </p:sp>
      <p:sp>
        <p:nvSpPr>
          <p:cNvPr id="32" name="TextBox 31"/>
          <p:cNvSpPr txBox="1"/>
          <p:nvPr/>
        </p:nvSpPr>
        <p:spPr>
          <a:xfrm>
            <a:off x="603504" y="5577840"/>
            <a:ext cx="10881360" cy="493776"/>
          </a:xfrm>
          <a:prstGeom prst="rect">
            <a:avLst/>
          </a:prstGeom>
          <a:noFill/>
        </p:spPr>
        <p:txBody>
          <a:bodyPr wrap="square" lIns="0" rIns="0" tIns="25400" bIns="0">
            <a:spAutoFit/>
          </a:bodyPr>
          <a:lstStyle/>
          <a:p>
            <a:pPr>
              <a:spcAft>
                <a:spcPts val="600"/>
              </a:spcAft>
              <a:defRPr sz="1600" b="1">
                <a:solidFill>
                  <a:srgbClr val="C44C99"/>
                </a:solidFill>
                <a:latin typeface="Arial"/>
              </a:defRPr>
            </a:pPr>
            <a:r>
              <a:t>Theo góp ý: hộp thoại mở từ FALLEN. Điều kiện rút gọn; chưa kiểm tra source hiện hành.</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AF7FB"/>
        </a:solidFill>
        <a:effectLst/>
      </p:bgPr>
    </p:bg>
    <p:spTree>
      <p:nvGrpSpPr>
        <p:cNvPr id="1" name=""/>
        <p:cNvGrpSpPr/>
        <p:nvPr/>
      </p:nvGrpSpPr>
      <p:grpSpPr/>
      <p:sp>
        <p:nvSpPr>
          <p:cNvPr id="2" name="Rectangle 1"/>
          <p:cNvSpPr/>
          <p:nvPr/>
        </p:nvSpPr>
        <p:spPr>
          <a:xfrm>
            <a:off x="9784080" y="0"/>
            <a:ext cx="2414016" cy="6858000"/>
          </a:xfrm>
          <a:prstGeom prst="rect">
            <a:avLst/>
          </a:prstGeom>
          <a:solidFill>
            <a:srgbClr val="E9DD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565392"/>
            <a:ext cx="12198096" cy="292608"/>
          </a:xfrm>
          <a:prstGeom prst="rect">
            <a:avLst/>
          </a:prstGeom>
          <a:solidFill>
            <a:srgbClr val="F2D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48640" y="292608"/>
            <a:ext cx="8229600" cy="274320"/>
          </a:xfrm>
          <a:prstGeom prst="rect">
            <a:avLst/>
          </a:prstGeom>
          <a:noFill/>
        </p:spPr>
        <p:txBody>
          <a:bodyPr wrap="square" lIns="0" rIns="0" tIns="25400" bIns="0">
            <a:spAutoFit/>
          </a:bodyPr>
          <a:lstStyle/>
          <a:p>
            <a:pPr>
              <a:spcAft>
                <a:spcPts val="600"/>
              </a:spcAft>
              <a:defRPr sz="1000" b="1">
                <a:solidFill>
                  <a:srgbClr val="C44C99"/>
                </a:solidFill>
                <a:latin typeface="Arial"/>
              </a:defRPr>
            </a:pPr>
            <a:r>
              <a:t>FALLSENSE  /  A LITTLE GUARDIAN</a:t>
            </a:r>
          </a:p>
        </p:txBody>
      </p:sp>
      <p:sp>
        <p:nvSpPr>
          <p:cNvPr id="5" name="TextBox 4"/>
          <p:cNvSpPr txBox="1"/>
          <p:nvPr/>
        </p:nvSpPr>
        <p:spPr>
          <a:xfrm>
            <a:off x="10561320" y="292608"/>
            <a:ext cx="1005840" cy="274320"/>
          </a:xfrm>
          <a:prstGeom prst="rect">
            <a:avLst/>
          </a:prstGeom>
          <a:noFill/>
        </p:spPr>
        <p:txBody>
          <a:bodyPr wrap="square" lIns="0" rIns="0" tIns="25400" bIns="0">
            <a:spAutoFit/>
          </a:bodyPr>
          <a:lstStyle/>
          <a:p>
            <a:pPr algn="r">
              <a:spcAft>
                <a:spcPts val="600"/>
              </a:spcAft>
              <a:defRPr sz="1000" b="1">
                <a:solidFill>
                  <a:srgbClr val="655D6C"/>
                </a:solidFill>
                <a:latin typeface="Arial"/>
              </a:defRPr>
            </a:pPr>
            <a:r>
              <a:t>13 / 13</a:t>
            </a:r>
          </a:p>
        </p:txBody>
      </p:sp>
      <p:sp>
        <p:nvSpPr>
          <p:cNvPr id="6" name="TextBox 5"/>
          <p:cNvSpPr txBox="1"/>
          <p:nvPr/>
        </p:nvSpPr>
        <p:spPr>
          <a:xfrm>
            <a:off x="548640" y="868680"/>
            <a:ext cx="10881360" cy="914400"/>
          </a:xfrm>
          <a:prstGeom prst="rect">
            <a:avLst/>
          </a:prstGeom>
          <a:noFill/>
        </p:spPr>
        <p:txBody>
          <a:bodyPr wrap="square" lIns="0" rIns="0" tIns="25400" bIns="0">
            <a:spAutoFit/>
          </a:bodyPr>
          <a:lstStyle/>
          <a:p>
            <a:pPr>
              <a:spcAft>
                <a:spcPts val="600"/>
              </a:spcAft>
              <a:defRPr sz="3200" b="1">
                <a:solidFill>
                  <a:srgbClr val="20212A"/>
                </a:solidFill>
                <a:latin typeface="Arial"/>
              </a:defRPr>
            </a:pPr>
            <a:r>
              <a:t>Minh bạch để tiến xa hơn</a:t>
            </a:r>
          </a:p>
        </p:txBody>
      </p:sp>
      <p:sp>
        <p:nvSpPr>
          <p:cNvPr id="7" name="TextBox 6"/>
          <p:cNvSpPr txBox="1"/>
          <p:nvPr/>
        </p:nvSpPr>
        <p:spPr>
          <a:xfrm>
            <a:off x="548640" y="6245352"/>
            <a:ext cx="10881360" cy="274320"/>
          </a:xfrm>
          <a:prstGeom prst="rect">
            <a:avLst/>
          </a:prstGeom>
          <a:noFill/>
        </p:spPr>
        <p:txBody>
          <a:bodyPr wrap="square" lIns="0" rIns="0" tIns="25400" bIns="0">
            <a:spAutoFit/>
          </a:bodyPr>
          <a:lstStyle/>
          <a:p>
            <a:pPr>
              <a:spcAft>
                <a:spcPts val="600"/>
              </a:spcAft>
              <a:defRPr sz="1000" b="0">
                <a:solidFill>
                  <a:srgbClr val="655D6C"/>
                </a:solidFill>
                <a:latin typeface="Arial"/>
              </a:defRPr>
            </a:pPr>
            <a:r>
              <a:t>Tài liệu góp ý 16 · Không có số đo thực nghiệm trong bộ đính kèm</a:t>
            </a:r>
          </a:p>
        </p:txBody>
      </p:sp>
      <p:sp>
        <p:nvSpPr>
          <p:cNvPr id="8" name="Rounded Rectangle 7"/>
          <p:cNvSpPr/>
          <p:nvPr/>
        </p:nvSpPr>
        <p:spPr>
          <a:xfrm>
            <a:off x="548640"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478024"/>
            <a:ext cx="3124200" cy="868680"/>
          </a:xfrm>
          <a:prstGeom prst="rect">
            <a:avLst/>
          </a:prstGeom>
          <a:noFill/>
        </p:spPr>
        <p:txBody>
          <a:bodyPr wrap="square" lIns="0" rIns="0" tIns="25400" bIns="0">
            <a:spAutoFit/>
          </a:bodyPr>
          <a:lstStyle/>
          <a:p>
            <a:pPr>
              <a:spcAft>
                <a:spcPts val="600"/>
              </a:spcAft>
              <a:defRPr sz="2300" b="1">
                <a:solidFill>
                  <a:srgbClr val="C44C99"/>
                </a:solidFill>
                <a:latin typeface="Arial"/>
              </a:defRPr>
            </a:pPr>
            <a:r>
              <a:t>Đề xuất kiểm thử</a:t>
            </a:r>
          </a:p>
        </p:txBody>
      </p:sp>
      <p:sp>
        <p:nvSpPr>
          <p:cNvPr id="10" name="TextBox 9"/>
          <p:cNvSpPr txBox="1"/>
          <p:nvPr/>
        </p:nvSpPr>
        <p:spPr>
          <a:xfrm>
            <a:off x="758952"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Đứng, cúi, thiếu điểm mốc,</a:t>
            </a:r>
          </a:p>
          <a:p>
            <a:pPr>
              <a:spcAft>
                <a:spcPts val="600"/>
              </a:spcAft>
              <a:defRPr sz="1800" b="0">
                <a:solidFill>
                  <a:srgbClr val="655D6C"/>
                </a:solidFill>
                <a:latin typeface="Arial"/>
              </a:defRPr>
            </a:pPr>
            <a:r>
              <a:t>ngã mô phỏng có kiểm soát.</a:t>
            </a:r>
          </a:p>
        </p:txBody>
      </p:sp>
      <p:sp>
        <p:nvSpPr>
          <p:cNvPr id="11" name="Rounded Rectangle 10"/>
          <p:cNvSpPr/>
          <p:nvPr/>
        </p:nvSpPr>
        <p:spPr>
          <a:xfrm>
            <a:off x="4322064"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32376" y="2478024"/>
            <a:ext cx="3124200" cy="868680"/>
          </a:xfrm>
          <a:prstGeom prst="rect">
            <a:avLst/>
          </a:prstGeom>
          <a:noFill/>
        </p:spPr>
        <p:txBody>
          <a:bodyPr wrap="square" lIns="0" rIns="0" tIns="25400" bIns="0">
            <a:spAutoFit/>
          </a:bodyPr>
          <a:lstStyle/>
          <a:p>
            <a:pPr>
              <a:spcAft>
                <a:spcPts val="600"/>
              </a:spcAft>
              <a:defRPr sz="2300" b="1">
                <a:solidFill>
                  <a:srgbClr val="20212A"/>
                </a:solidFill>
                <a:latin typeface="Arial"/>
              </a:defRPr>
            </a:pPr>
            <a:r>
              <a:t>Ghi bằng chứng</a:t>
            </a:r>
          </a:p>
        </p:txBody>
      </p:sp>
      <p:sp>
        <p:nvSpPr>
          <p:cNvPr id="13" name="TextBox 12"/>
          <p:cNvSpPr txBox="1"/>
          <p:nvPr/>
        </p:nvSpPr>
        <p:spPr>
          <a:xfrm>
            <a:off x="4532376"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Phát hiện đúng / bỏ sót,</a:t>
            </a:r>
          </a:p>
          <a:p>
            <a:pPr>
              <a:spcAft>
                <a:spcPts val="600"/>
              </a:spcAft>
              <a:defRPr sz="1800" b="0">
                <a:solidFill>
                  <a:srgbClr val="655D6C"/>
                </a:solidFill>
                <a:latin typeface="Arial"/>
              </a:defRPr>
            </a:pPr>
            <a:r>
              <a:t>báo sai, modal và email.</a:t>
            </a:r>
          </a:p>
        </p:txBody>
      </p:sp>
      <p:sp>
        <p:nvSpPr>
          <p:cNvPr id="14" name="Rounded Rectangle 13"/>
          <p:cNvSpPr/>
          <p:nvPr/>
        </p:nvSpPr>
        <p:spPr>
          <a:xfrm>
            <a:off x="8095488" y="2240280"/>
            <a:ext cx="3544824" cy="242316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305800" y="2478024"/>
            <a:ext cx="3124200" cy="868680"/>
          </a:xfrm>
          <a:prstGeom prst="rect">
            <a:avLst/>
          </a:prstGeom>
          <a:noFill/>
        </p:spPr>
        <p:txBody>
          <a:bodyPr wrap="square" lIns="0" rIns="0" tIns="25400" bIns="0">
            <a:spAutoFit/>
          </a:bodyPr>
          <a:lstStyle/>
          <a:p>
            <a:pPr>
              <a:spcAft>
                <a:spcPts val="600"/>
              </a:spcAft>
              <a:defRPr sz="2300" b="1">
                <a:solidFill>
                  <a:srgbClr val="20212A"/>
                </a:solidFill>
                <a:latin typeface="Arial"/>
              </a:defRPr>
            </a:pPr>
            <a:r>
              <a:t>Nhận diện giới hạn</a:t>
            </a:r>
          </a:p>
        </p:txBody>
      </p:sp>
      <p:sp>
        <p:nvSpPr>
          <p:cNvPr id="16" name="TextBox 15"/>
          <p:cNvSpPr txBox="1"/>
          <p:nvPr/>
        </p:nvSpPr>
        <p:spPr>
          <a:xfrm>
            <a:off x="8305800" y="3429000"/>
            <a:ext cx="3124200" cy="1033271"/>
          </a:xfrm>
          <a:prstGeom prst="rect">
            <a:avLst/>
          </a:prstGeom>
          <a:noFill/>
        </p:spPr>
        <p:txBody>
          <a:bodyPr wrap="square" lIns="0" rIns="0" tIns="25400" bIns="0">
            <a:spAutoFit/>
          </a:bodyPr>
          <a:lstStyle/>
          <a:p>
            <a:pPr>
              <a:spcAft>
                <a:spcPts val="600"/>
              </a:spcAft>
              <a:defRPr sz="1800" b="0">
                <a:solidFill>
                  <a:srgbClr val="655D6C"/>
                </a:solidFill>
                <a:latin typeface="Arial"/>
              </a:defRPr>
            </a:pPr>
            <a:r>
              <a:t>Ánh sáng, che khuất, góc máy;</a:t>
            </a:r>
          </a:p>
          <a:p>
            <a:pPr>
              <a:spcAft>
                <a:spcPts val="600"/>
              </a:spcAft>
              <a:defRPr sz="1800" b="0">
                <a:solidFill>
                  <a:srgbClr val="655D6C"/>
                </a:solidFill>
                <a:latin typeface="Arial"/>
              </a:defRPr>
            </a:pPr>
            <a:r>
              <a:t>quyền camera và mạng.</a:t>
            </a:r>
          </a:p>
        </p:txBody>
      </p:sp>
      <p:sp>
        <p:nvSpPr>
          <p:cNvPr id="17" name="TextBox 16"/>
          <p:cNvSpPr txBox="1"/>
          <p:nvPr/>
        </p:nvSpPr>
        <p:spPr>
          <a:xfrm>
            <a:off x="612648" y="5138928"/>
            <a:ext cx="10835640" cy="731520"/>
          </a:xfrm>
          <a:prstGeom prst="rect">
            <a:avLst/>
          </a:prstGeom>
          <a:noFill/>
        </p:spPr>
        <p:txBody>
          <a:bodyPr wrap="square" lIns="0" rIns="0" tIns="25400" bIns="0">
            <a:spAutoFit/>
          </a:bodyPr>
          <a:lstStyle/>
          <a:p>
            <a:pPr>
              <a:spcAft>
                <a:spcPts val="600"/>
              </a:spcAft>
              <a:defRPr sz="1800" b="1">
                <a:solidFill>
                  <a:srgbClr val="C44C99"/>
                </a:solidFill>
                <a:latin typeface="Arial"/>
              </a:defRPr>
            </a:pPr>
            <a:r>
              <a:t>Chưa có số đo hiệu quả thực tế trong bộ tài liệu. Test phần mềm không chứng minh độ chính xác lâm sàng.</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FallSense — Giới thiệu ngành Công nghệ thông tin</dc:title>
  <dc:subject>IE005.R11.CNVN — nguyên mẫu hỗ trợ giám sát té ngã</dc:subject>
  <dc:creator>Nhóm 06</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